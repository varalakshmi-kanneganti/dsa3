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13.xml" ContentType="application/vnd.openxmlformats-officedocument.presentationml.slide+xml"/>
  <Override PartName="/ppt/slides/slide14.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64" r:id="rId4"/>
    <p:sldId id="258" r:id="rId5"/>
    <p:sldId id="261" r:id="rId6"/>
    <p:sldId id="265" r:id="rId7"/>
    <p:sldId id="259" r:id="rId8"/>
    <p:sldId id="269" r:id="rId18"/>
    <p:sldId id="270" r:id="rId19"/>
    <p:sldId id="267" r:id="rId9"/>
    <p:sldId id="266" r:id="rId10"/>
    <p:sldId id="260" r:id="rId11"/>
    <p:sldId id="262" r:id="rId12"/>
    <p:sldId id="26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3" d="100"/>
          <a:sy n="83" d="100"/>
        </p:scale>
        <p:origin x="61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  <Relationship Id="rId18" Type="http://schemas.openxmlformats.org/officeDocument/2006/relationships/slide" Target="slides/slide13.xml"/>
  <Relationship Id="rId19" Type="http://schemas.openxmlformats.org/officeDocument/2006/relationships/slide" Target="slides/slide14.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8/20/2026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8/20/2026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8/20/2026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8/20/2026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8/20/2026</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8/20/2026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8/20/2026</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8/20/2026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8/20/2026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8/20/2026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8/20/2026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20000"/>
            <a:lumOff val="80000"/>
            <a:alpha val="10000"/>
          </a:schemeClr>
        </a:solidFill>
        <a:effectLst/>
      </p:bgPr>
    </p:bg>
    <p:spTree>
      <p:nvGrpSpPr>
        <p:cNvPr id="1" name=""/>
        <p:cNvGrpSpPr/>
        <p:nvPr/>
      </p:nvGrpSpPr>
      <p:grpSpPr>
        <a:xfrm>
          <a:off x="0" y="0"/>
          <a:ext cx="0" cy="0"/>
          <a:chOff x="0" y="0"/>
          <a:chExt cx="0" cy="0"/>
        </a:xfrm>
      </p:grpSpPr>
      <p:pic>
        <p:nvPicPr>
          <p:cNvPr id="7" name="Picture 11" descr="KL University Hyderabad"/>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44450"/>
            <a:ext cx="2101850"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userDrawn="1"/>
        </p:nvSpPr>
        <p:spPr>
          <a:xfrm>
            <a:off x="0" y="6811963"/>
            <a:ext cx="12192000" cy="46037"/>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userDrawn="1"/>
        </p:nvSpPr>
        <p:spPr>
          <a:xfrm>
            <a:off x="0" y="0"/>
            <a:ext cx="12192000" cy="46038"/>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6" descr="Background pattern&#10;&#10;Description automatically generated"/>
          <p:cNvPicPr>
            <a:picLocks noChangeAspect="1" noChangeArrowheads="1"/>
          </p:cNvPicPr>
          <p:nvPr userDrawn="1"/>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0"/>
            <a:ext cx="3003550" cy="300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61938" y="1027775"/>
            <a:ext cx="9144000" cy="2316702"/>
          </a:xfrm>
        </p:spPr>
        <p:txBody>
          <a:bodyPr/>
          <a:lstStyle/>
          <a:p>
            <a:r>
              <a:rPr lang="en-US" b="1" dirty="0">
                <a:solidFill>
                  <a:srgbClr val="C00000"/>
                </a:solidFill>
                <a:latin typeface="+mn-lt"/>
              </a:rPr>
              <a:t/>
            </a:r>
            <a:br>
              <a:rPr lang="en-US" b="1" dirty="0">
                <a:solidFill>
                  <a:srgbClr val="C00000"/>
                </a:solidFill>
                <a:latin typeface="+mn-lt"/>
              </a:rPr>
            </a:br>
            <a:r>
              <a:rPr lang="en-US" b="1" dirty="0">
                <a:solidFill>
                  <a:srgbClr val="C00000"/>
                </a:solidFill>
                <a:latin typeface="+mn-lt"/>
              </a:rPr>
              <a:t/>
            </a:r>
            <a:br>
              <a:rPr lang="en-US" b="1" dirty="0">
                <a:solidFill>
                  <a:srgbClr val="C00000"/>
                </a:solidFill>
                <a:latin typeface="+mn-lt"/>
              </a:rPr>
            </a:br>
            <a:r>
              <a:rPr lang="en-US" b="1" dirty="0">
                <a:solidFill>
                  <a:srgbClr val="C00000"/>
                </a:solidFill>
                <a:latin typeface="+mn-lt"/>
              </a:rPr>
              <a:t/>
            </a:r>
            <a:br>
              <a:rPr lang="en-US" b="1" dirty="0">
                <a:solidFill>
                  <a:srgbClr val="C00000"/>
                </a:solidFill>
                <a:latin typeface="+mn-lt"/>
              </a:rPr>
            </a:br>
            <a:r>
              <a:rPr lang="en-US" b="1" dirty="0">
                <a:solidFill>
                  <a:srgbClr val="C00000"/>
                </a:solidFill>
                <a:latin typeface="+mn-lt"/>
              </a:rPr>
              <a:t/>
            </a:r>
            <a:br>
              <a:rPr lang="en-US" b="1" dirty="0">
                <a:solidFill>
                  <a:srgbClr val="C00000"/>
                </a:solidFill>
                <a:latin typeface="+mn-lt"/>
              </a:rPr>
            </a:br>
            <a:r>
              <a:rPr lang="en-US" b="1" dirty="0">
                <a:solidFill>
                  <a:srgbClr val="C00000"/>
                </a:solidFill>
                <a:latin typeface="+mn-lt"/>
              </a:rPr>
              <a:t/>
            </a:r>
            <a:br>
              <a:rPr lang="en-US" b="1" dirty="0">
                <a:solidFill>
                  <a:srgbClr val="C00000"/>
                </a:solidFill>
                <a:latin typeface="+mn-lt"/>
              </a:rPr>
            </a:br>
            <a:r>
              <a:rPr lang="en-US" b="1" dirty="0">
                <a:solidFill>
                  <a:srgbClr val="C00000"/>
                </a:solidFill>
                <a:latin typeface="+mn-lt"/>
              </a:rPr>
              <a:t/>
            </a:r>
            <a:br>
              <a:rPr lang="en-US" b="1" dirty="0">
                <a:solidFill>
                  <a:srgbClr val="C00000"/>
                </a:solidFill>
                <a:latin typeface="+mn-lt"/>
              </a:rPr>
            </a:br>
            <a:r>
              <a:rPr lang="en-US" sz="4000" b="1" dirty="0">
                <a:solidFill>
                  <a:srgbClr val="C00000"/>
                </a:solidFill>
                <a:latin typeface="+mn-lt"/>
              </a:rPr>
              <a:t/>
            </a:r>
            <a:br>
              <a:rPr lang="en-US" sz="4000" b="1" dirty="0">
                <a:solidFill>
                  <a:srgbClr val="C00000"/>
                </a:solidFill>
                <a:latin typeface="+mn-lt"/>
              </a:rPr>
            </a:br>
            <a:r>
              <a:rPr lang="en-US" sz="4000" b="1" dirty="0" smtClean="0">
                <a:solidFill>
                  <a:srgbClr val="C00000"/>
                </a:solidFill>
                <a:latin typeface="+mn-lt"/>
              </a:rPr>
              <a:t>Data Structures and Algorithms -3 (25CS2103E)</a:t>
            </a:r>
            <a:r>
              <a:rPr lang="en-US" sz="4000" b="1" dirty="0">
                <a:solidFill>
                  <a:srgbClr val="C00000"/>
                </a:solidFill>
                <a:latin typeface="+mn-lt"/>
              </a:rPr>
              <a:t/>
            </a:r>
            <a:br>
              <a:rPr lang="en-US" sz="4000" b="1" dirty="0">
                <a:solidFill>
                  <a:srgbClr val="C00000"/>
                </a:solidFill>
                <a:latin typeface="+mn-lt"/>
              </a:rPr>
            </a:br>
            <a:r>
              <a:rPr lang="en-US" sz="4000" b="1" dirty="0">
                <a:solidFill>
                  <a:srgbClr val="C00000"/>
                </a:solidFill>
                <a:latin typeface="+mn-lt"/>
              </a:rPr>
              <a:t/>
            </a:r>
            <a:br>
              <a:rPr lang="en-US" sz="4000" b="1" dirty="0">
                <a:solidFill>
                  <a:srgbClr val="C00000"/>
                </a:solidFill>
                <a:latin typeface="+mn-lt"/>
              </a:rPr>
            </a:br>
            <a:r>
              <a:rPr lang="en-US" sz="4000" b="1" dirty="0">
                <a:solidFill>
                  <a:srgbClr val="C00000"/>
                </a:solidFill>
                <a:latin typeface="+mn-lt"/>
              </a:rPr>
              <a:t>Fast Keyword-Based Search Engine for Indian-Language Wikipedia Text using Efficient Indexing</a:t>
            </a:r>
          </a:p>
        </p:txBody>
      </p:sp>
      <p:sp>
        <p:nvSpPr>
          <p:cNvPr id="3" name="Subtitle 2"/>
          <p:cNvSpPr>
            <a:spLocks noGrp="1"/>
          </p:cNvSpPr>
          <p:nvPr>
            <p:ph type="subTitle" idx="1"/>
          </p:nvPr>
        </p:nvSpPr>
        <p:spPr>
          <a:xfrm>
            <a:off x="4270160" y="3513524"/>
            <a:ext cx="4551284" cy="1396014"/>
          </a:xfrm>
        </p:spPr>
        <p:txBody>
          <a:bodyPr/>
          <a:lstStyle/>
          <a:p>
            <a:r>
              <a:rPr lang="en-US" dirty="0">
                <a:solidFill>
                  <a:srgbClr val="0070C0"/>
                </a:solidFill>
              </a:rPr>
              <a:t>Team Members</a:t>
            </a:r>
          </a:p>
          <a:p>
            <a:r>
              <a:rPr lang="en-US" sz="1400" dirty="0">
                <a:solidFill>
                  <a:srgbClr val="0070C0"/>
                </a:solidFill>
              </a:rPr>
              <a:t>Lohitha M – 2520030378</a:t>
            </a:r>
          </a:p>
          <a:p>
            <a:r>
              <a:rPr lang="en-US" sz="1400" dirty="0">
                <a:solidFill>
                  <a:srgbClr val="0070C0"/>
                </a:solidFill>
              </a:rPr>
              <a:t>Varalakshmi K – 2520030578</a:t>
            </a:r>
          </a:p>
          <a:p>
            <a:r>
              <a:rPr lang="en-US" sz="1400" dirty="0">
                <a:solidFill>
                  <a:srgbClr val="0070C0"/>
                </a:solidFill>
              </a:rPr>
              <a:t>Navaneeth P – 2520030058</a:t>
            </a:r>
          </a:p>
          <a:p>
            <a:pPr marL="171450" algn="ctr">
              <a:lnSpc>
                <a:spcPct val="107000"/>
              </a:lnSpc>
              <a:spcAft>
                <a:spcPts val="800"/>
              </a:spcAft>
            </a:pPr>
            <a:endPar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endParaRPr>
          </a:p>
          <a:p>
            <a:pPr marL="171450" algn="ctr">
              <a:lnSpc>
                <a:spcPct val="107000"/>
              </a:lnSpc>
              <a:spcAft>
                <a:spcPts val="800"/>
              </a:spcAft>
            </a:pPr>
            <a:r>
              <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Under the Esteemed Guidance of</a:t>
            </a: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a:p>
            <a:pPr algn="ctr">
              <a:lnSpc>
                <a:spcPct val="107000"/>
              </a:lnSpc>
              <a:spcAft>
                <a:spcPts val="800"/>
              </a:spcAft>
            </a:pPr>
            <a:r>
              <a:rPr lang="en-US" sz="1800" b="1"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[Faculty Name], </a:t>
            </a:r>
            <a:r>
              <a:rPr lang="en-US" sz="1800" b="1" kern="0" dirty="0" smtClean="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[Designation]</a:t>
            </a:r>
            <a:r>
              <a:rPr lang="en-US" sz="1800" b="1"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 Dept. of CSE  </a:t>
            </a: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a:p>
            <a:endParaRPr lang="en-US" dirty="0">
              <a:solidFill>
                <a:srgbClr val="0070C0"/>
              </a:solidFill>
            </a:endParaRPr>
          </a:p>
          <a:p>
            <a:endParaRPr lang="en-US" b="1" dirty="0">
              <a:solidFill>
                <a:srgbClr val="C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C70C049-38C4-198F-3181-AACE07DE24AE}"/>
              </a:ext>
            </a:extLst>
          </p:cNvPr>
          <p:cNvSpPr txBox="1"/>
          <p:nvPr/>
        </p:nvSpPr>
        <p:spPr>
          <a:xfrm>
            <a:off x="3736109" y="900000"/>
            <a:ext cx="6936386" cy="5500000"/>
          </a:xfrm>
          <a:prstGeom prst="rect">
            <a:avLst/>
          </a:prstGeom>
          <a:noFill/>
        </p:spPr>
        <p:txBody>
          <a:bodyPr wrap="none" rtlCol="0">
            <a:spAutoFit/>
          </a:bodyPr>
          <a:lstStyle/>
          <a:p>
            <a:pPr marL="457200" indent="-457200" algn="l">
              <a:lnSpc>
                <a:spcPct val="120000"/>
              </a:lnSpc>
              <a:spcBef>
                <a:spcPts val="0"/>
              </a:spcBef>
              <a:spcAft>
                <a:spcPts val="0"/>
              </a:spcAft>
              <a:buFont typeface="Arial"/>
              <a:buChar char="•"/>
            </a:pPr>
            <a:r>
              <a:rPr lang="en-US" sz="2400" b="0" i="0" dirty="0">
                <a:solidFill>
                  <a:srgbClr val="000000"/>
                </a:solidFill>
                <a:latin typeface="Calibri"/>
                <a:cs typeface="Nirmala UI"/>
              </a:rPr>
              <a:t>Abstract</a:t>
            </a:r>
          </a:p>
          <a:p>
            <a:pPr marL="457200" indent="-457200" algn="l">
              <a:lnSpc>
                <a:spcPct val="120000"/>
              </a:lnSpc>
              <a:spcBef>
                <a:spcPts val="0"/>
              </a:spcBef>
              <a:spcAft>
                <a:spcPts val="0"/>
              </a:spcAft>
              <a:buFont typeface="Arial"/>
              <a:buChar char="•"/>
            </a:pPr>
            <a:r>
              <a:rPr lang="en-US" sz="2400" b="0" i="0" dirty="0">
                <a:solidFill>
                  <a:srgbClr val="000000"/>
                </a:solidFill>
                <a:latin typeface="Calibri"/>
                <a:cs typeface="Nirmala UI"/>
              </a:rPr>
              <a:t>Introduction</a:t>
            </a:r>
          </a:p>
          <a:p>
            <a:pPr marL="457200" indent="-457200" algn="l">
              <a:lnSpc>
                <a:spcPct val="120000"/>
              </a:lnSpc>
              <a:spcBef>
                <a:spcPts val="0"/>
              </a:spcBef>
              <a:spcAft>
                <a:spcPts val="0"/>
              </a:spcAft>
              <a:buFont typeface="Arial"/>
              <a:buChar char="•"/>
            </a:pPr>
            <a:r>
              <a:rPr lang="en-US" sz="2400" b="0" i="0" dirty="0">
                <a:solidFill>
                  <a:srgbClr val="000000"/>
                </a:solidFill>
                <a:latin typeface="Calibri"/>
                <a:cs typeface="Nirmala UI"/>
              </a:rPr>
              <a:t>Literature survey</a:t>
            </a:r>
          </a:p>
          <a:p>
            <a:pPr marL="457200" indent="-457200" algn="l">
              <a:lnSpc>
                <a:spcPct val="120000"/>
              </a:lnSpc>
              <a:spcBef>
                <a:spcPts val="0"/>
              </a:spcBef>
              <a:spcAft>
                <a:spcPts val="0"/>
              </a:spcAft>
              <a:buFont typeface="Arial"/>
              <a:buChar char="•"/>
            </a:pPr>
            <a:r>
              <a:rPr lang="en-US" sz="2400" b="0" i="0" dirty="0">
                <a:solidFill>
                  <a:srgbClr val="000000"/>
                </a:solidFill>
                <a:latin typeface="Calibri"/>
                <a:cs typeface="Nirmala UI"/>
              </a:rPr>
              <a:t>Problem Statement and Objectives</a:t>
            </a:r>
          </a:p>
          <a:p>
            <a:pPr marL="457200" indent="-457200" algn="l">
              <a:lnSpc>
                <a:spcPct val="120000"/>
              </a:lnSpc>
              <a:spcBef>
                <a:spcPts val="0"/>
              </a:spcBef>
              <a:spcAft>
                <a:spcPts val="0"/>
              </a:spcAft>
              <a:buFont typeface="Arial"/>
              <a:buChar char="•"/>
            </a:pPr>
            <a:r>
              <a:rPr lang="en-US" sz="2400" b="0" i="0" dirty="0">
                <a:solidFill>
                  <a:srgbClr val="000000"/>
                </a:solidFill>
                <a:latin typeface="Calibri"/>
                <a:cs typeface="Nirmala UI"/>
              </a:rPr>
              <a:t>Flow Chart</a:t>
            </a:r>
          </a:p>
          <a:p>
            <a:pPr marL="457200" indent="-457200" algn="l">
              <a:lnSpc>
                <a:spcPct val="120000"/>
              </a:lnSpc>
              <a:spcBef>
                <a:spcPts val="0"/>
              </a:spcBef>
              <a:spcAft>
                <a:spcPts val="0"/>
              </a:spcAft>
              <a:buFont typeface="Arial"/>
              <a:buChar char="•"/>
            </a:pPr>
            <a:r>
              <a:rPr lang="en-US" sz="2400" b="0" i="0" dirty="0">
                <a:solidFill>
                  <a:srgbClr val="000000"/>
                </a:solidFill>
                <a:latin typeface="Calibri"/>
                <a:cs typeface="Nirmala UI"/>
              </a:rPr>
              <a:t>System Architecture and Modules</a:t>
            </a:r>
          </a:p>
          <a:p>
            <a:pPr marL="457200" indent="-457200" algn="l">
              <a:lnSpc>
                <a:spcPct val="120000"/>
              </a:lnSpc>
              <a:spcBef>
                <a:spcPts val="0"/>
              </a:spcBef>
              <a:spcAft>
                <a:spcPts val="0"/>
              </a:spcAft>
              <a:buFont typeface="Arial"/>
              <a:buChar char="•"/>
            </a:pPr>
            <a:r>
              <a:rPr lang="en-US" sz="2400" b="0" i="0" dirty="0">
                <a:solidFill>
                  <a:srgbClr val="000000"/>
                </a:solidFill>
                <a:latin typeface="Calibri"/>
                <a:cs typeface="Nirmala UI"/>
              </a:rPr>
              <a:t>Algorithms and Complexity</a:t>
            </a:r>
          </a:p>
          <a:p>
            <a:pPr marL="457200" indent="-457200" algn="l">
              <a:lnSpc>
                <a:spcPct val="120000"/>
              </a:lnSpc>
              <a:spcBef>
                <a:spcPts val="0"/>
              </a:spcBef>
              <a:spcAft>
                <a:spcPts val="0"/>
              </a:spcAft>
              <a:buFont typeface="Arial"/>
              <a:buChar char="•"/>
            </a:pPr>
            <a:r>
              <a:rPr lang="en-US" sz="2400" b="0" i="0" dirty="0">
                <a:solidFill>
                  <a:srgbClr val="000000"/>
                </a:solidFill>
                <a:latin typeface="Calibri"/>
                <a:cs typeface="Nirmala UI"/>
              </a:rPr>
              <a:t>Results</a:t>
            </a:r>
          </a:p>
          <a:p>
            <a:pPr marL="457200" indent="-457200" algn="l">
              <a:lnSpc>
                <a:spcPct val="120000"/>
              </a:lnSpc>
              <a:spcBef>
                <a:spcPts val="0"/>
              </a:spcBef>
              <a:spcAft>
                <a:spcPts val="0"/>
              </a:spcAft>
              <a:buFont typeface="Arial"/>
              <a:buChar char="•"/>
            </a:pPr>
            <a:r>
              <a:rPr lang="en-US" sz="2400" b="0" i="0" dirty="0">
                <a:solidFill>
                  <a:srgbClr val="000000"/>
                </a:solidFill>
                <a:latin typeface="Calibri"/>
                <a:cs typeface="Nirmala UI"/>
              </a:rPr>
              <a:t>Hardware and Software requirements</a:t>
            </a:r>
          </a:p>
          <a:p>
            <a:pPr marL="457200" indent="-457200" algn="l">
              <a:lnSpc>
                <a:spcPct val="120000"/>
              </a:lnSpc>
              <a:spcBef>
                <a:spcPts val="0"/>
              </a:spcBef>
              <a:spcAft>
                <a:spcPts val="0"/>
              </a:spcAft>
              <a:buFont typeface="Arial"/>
              <a:buChar char="•"/>
            </a:pPr>
            <a:r>
              <a:rPr lang="en-US" sz="2400" b="0" i="0" dirty="0">
                <a:solidFill>
                  <a:srgbClr val="000000"/>
                </a:solidFill>
                <a:latin typeface="Calibri"/>
                <a:cs typeface="Nirmala UI"/>
              </a:rPr>
              <a:t>Conclusion</a:t>
            </a:r>
          </a:p>
          <a:p>
            <a:pPr marL="457200" indent="-457200" algn="l">
              <a:lnSpc>
                <a:spcPct val="120000"/>
              </a:lnSpc>
              <a:spcBef>
                <a:spcPts val="0"/>
              </a:spcBef>
              <a:spcAft>
                <a:spcPts val="0"/>
              </a:spcAft>
              <a:buFont typeface="Arial"/>
              <a:buChar char="•"/>
            </a:pPr>
            <a:r>
              <a:rPr lang="en-US" sz="2400" b="0" i="0" dirty="0">
                <a:solidFill>
                  <a:srgbClr val="000000"/>
                </a:solidFill>
                <a:latin typeface="Calibri"/>
                <a:cs typeface="Nirmala UI"/>
              </a:rPr>
              <a:t>Future Scope</a:t>
            </a:r>
          </a:p>
        </p:txBody>
      </p:sp>
      <p:sp>
        <p:nvSpPr>
          <p:cNvPr id="8" name="Rectangle: Rounded Corners 7">
            <a:extLst>
              <a:ext uri="{FF2B5EF4-FFF2-40B4-BE49-F238E27FC236}">
                <a16:creationId xmlns:a16="http://schemas.microsoft.com/office/drawing/2014/main" id="{3EAC2F32-24D5-FDE9-EB0F-31C7733C95E6}"/>
              </a:ext>
            </a:extLst>
          </p:cNvPr>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CCA499C0-FC38-6642-1E16-B8CFFC9C9314}"/>
              </a:ext>
            </a:extLst>
          </p:cNvPr>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Contents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Abstract</a:t>
            </a:r>
          </a:p>
        </p:txBody>
      </p:sp>
      <p:sp>
        <p:nvSpPr>
          <p:cNvPr id="101" name="Abstract Content"/>
          <p:cNvSpPr txBox="1"/>
          <p:nvPr/>
        </p:nvSpPr>
        <p:spPr>
          <a:xfrm>
            <a:off x="2900000" y="1000000"/>
            <a:ext cx="8500000" cy="5600000"/>
          </a:xfrm>
          <a:prstGeom prst="rect">
            <a:avLst/>
          </a:prstGeom>
          <a:noFill/>
        </p:spPr>
        <p:txBody>
          <a:bodyPr wrap="square" rtlCol="0">
            <a:normAutofit/>
          </a:bodyPr>
          <a:lstStyle/>
          <a:p>
            <a:pPr>
              <a:spcAft>
                <a:spcPts val="0"/>
              </a:spcAft>
              <a:buNone/>
            </a:pPr>
            <a:r>
              <a:rPr lang="en-US" sz="1800" dirty="0">
                <a:solidFill>
                  <a:srgbClr val="000000"/>
                </a:solidFill>
                <a:latin typeface="Calibri"/>
              </a:rPr>
              <a:t>Wikipedia in Indian languages contains millions of articles, but searching them quickly is difficult because of the large data size, Unicode-based scripts, and the need to match multiple keywords at once. This project builds a text analytics engine that preprocesses an Indian-language Wikipedia corpus using efficient indexing techniques (such as inverted indexing and hashing) so that keyword searches can be answered in milliseconds instead of scanning the whole corpus every time. Users can search using a single keyword or multiple keywords, and the system returns the most relevant documents ranked by keyword frequency and occurrence. The engine is designed to support full Unicode text and scale to large datasets, making it practical for real Indian-language content and improving search efficiency and scalability. The engine is implemented in Java with a console interface and a browser-based front end, and it includes a linear-scan baseline so the speed-up from the index can be measured directly.</a:t>
            </a:r>
          </a:p>
        </p:txBody>
      </p:sp>
    </p:spTree>
    <p:extLst>
      <p:ext uri="{BB962C8B-B14F-4D97-AF65-F5344CB8AC3E}">
        <p14:creationId xmlns:p14="http://schemas.microsoft.com/office/powerpoint/2010/main" val="16724225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Introduction</a:t>
            </a:r>
          </a:p>
        </p:txBody>
      </p:sp>
      <p:sp>
        <p:nvSpPr>
          <p:cNvPr id="101" name="Introduction Content"/>
          <p:cNvSpPr txBox="1"/>
          <p:nvPr/>
        </p:nvSpPr>
        <p:spPr>
          <a:xfrm>
            <a:off x="2900000" y="1000000"/>
            <a:ext cx="8500000" cy="5600000"/>
          </a:xfrm>
          <a:prstGeom prst="rect">
            <a:avLst/>
          </a:prstGeom>
          <a:noFill/>
        </p:spPr>
        <p:txBody>
          <a:bodyPr wrap="square" rtlCol="0">
            <a:normAutofit/>
          </a:bodyPr>
          <a:lstStyle/>
          <a:p>
            <a:pPr marL="285750" indent="-285750">
              <a:spcAft>
                <a:spcPts val="1000"/>
              </a:spcAft>
              <a:buFont typeface="Arial"/>
              <a:buChar char="•"/>
            </a:pPr>
            <a:r>
              <a:rPr lang="en-US" sz="1700" dirty="0">
                <a:solidFill>
                  <a:srgbClr val="000000"/>
                </a:solidFill>
                <a:latin typeface="Calibri"/>
              </a:rPr>
              <a:t>Wikipedia is one of the largest free knowledge sources, with dedicated editions in Hindi, Telugu, Tamil, Kannada, Bengali, Marathi and other Indian languages.</a:t>
            </a:r>
          </a:p>
          <a:p>
            <a:pPr marL="285750" indent="-285750">
              <a:spcAft>
                <a:spcPts val="1000"/>
              </a:spcAft>
              <a:buFont typeface="Arial"/>
              <a:buChar char="•"/>
            </a:pPr>
            <a:r>
              <a:rPr lang="en-US" sz="1700" dirty="0">
                <a:solidFill>
                  <a:srgbClr val="000000"/>
                </a:solidFill>
                <a:latin typeface="Calibri"/>
              </a:rPr>
              <a:t>Indian-language text uses Unicode scripts (Devanagari, Telugu, Tamil, etc.), which makes plain string matching slow and unreliable on large corpora.</a:t>
            </a:r>
          </a:p>
          <a:p>
            <a:pPr marL="285750" indent="-285750">
              <a:spcAft>
                <a:spcPts val="1000"/>
              </a:spcAft>
              <a:buFont typeface="Arial"/>
              <a:buChar char="•"/>
            </a:pPr>
            <a:r>
              <a:rPr lang="en-US" sz="1700" dirty="0">
                <a:solidFill>
                  <a:srgbClr val="000000"/>
                </a:solidFill>
                <a:latin typeface="Calibri"/>
              </a:rPr>
              <a:t>A simple linear scan through every document for every search query does not scale as the corpus grows to lakhs of articles.</a:t>
            </a:r>
          </a:p>
          <a:p>
            <a:pPr marL="285750" indent="-285750">
              <a:spcAft>
                <a:spcPts val="1000"/>
              </a:spcAft>
              <a:buFont typeface="Arial"/>
              <a:buChar char="•"/>
            </a:pPr>
            <a:r>
              <a:rPr lang="en-US" sz="1700" dirty="0">
                <a:solidFill>
                  <a:srgbClr val="000000"/>
                </a:solidFill>
                <a:latin typeface="Calibri"/>
              </a:rPr>
              <a:t>This motivates the need for a fast, index-based search engine that is built once and reused for every query.</a:t>
            </a:r>
          </a:p>
          <a:p>
            <a:pPr marL="285750" indent="-285750">
              <a:spcAft>
                <a:spcPts val="1000"/>
              </a:spcAft>
              <a:buFont typeface="Arial"/>
              <a:buChar char="•"/>
            </a:pPr>
            <a:r>
              <a:rPr lang="en-US" sz="1700" dirty="0">
                <a:solidFill>
                  <a:srgbClr val="000000"/>
                </a:solidFill>
                <a:latin typeface="Calibri"/>
              </a:rPr>
              <a:t>The project applies core Data Structures and Algorithms concepts — hashing, inverted indexes, sorting and searching — to a real, large-scale text analytics problem.</a:t>
            </a:r>
          </a:p>
          <a:p>
            <a:pPr marL="285750" indent="-285750">
              <a:spcAft>
                <a:spcPts val="1000"/>
              </a:spcAft>
              <a:buFont typeface="Arial"/>
              <a:buChar char="•"/>
            </a:pPr>
            <a:r>
              <a:rPr lang="en-US" sz="1700" dirty="0">
                <a:solidFill>
                  <a:srgbClr val="000000"/>
                </a:solidFill>
                <a:latin typeface="Calibri"/>
              </a:rPr>
              <a:t>Goal: let a user type one or more keywords and instantly get back the most relevant Wikipedia documents.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Literature Survey</a:t>
            </a:r>
          </a:p>
        </p:txBody>
      </p:sp>
      <p:sp>
        <p:nvSpPr>
          <p:cNvPr id="101" name="Literature Survey Content"/>
          <p:cNvSpPr txBox="1"/>
          <p:nvPr/>
        </p:nvSpPr>
        <p:spPr>
          <a:xfrm>
            <a:off x="2900000" y="1000000"/>
            <a:ext cx="8500000" cy="5600000"/>
          </a:xfrm>
          <a:prstGeom prst="rect">
            <a:avLst/>
          </a:prstGeom>
          <a:noFill/>
        </p:spPr>
        <p:txBody>
          <a:bodyPr wrap="square" rtlCol="0">
            <a:normAutofit/>
          </a:bodyPr>
          <a:lstStyle/>
          <a:p>
            <a:pPr marL="285750" indent="-285750">
              <a:spcAft>
                <a:spcPts val="1000"/>
              </a:spcAft>
              <a:buFont typeface="Arial"/>
              <a:buChar char="•"/>
            </a:pPr>
            <a:r>
              <a:rPr lang="en-US" sz="1650" dirty="0">
                <a:solidFill>
                  <a:srgbClr val="000000"/>
                </a:solidFill>
                <a:latin typeface="Calibri"/>
              </a:rPr>
              <a:t>Linear / Boolean keyword search scans every document character by character; simple to implement but far too slow once the corpus grows to millions of words.</a:t>
            </a:r>
          </a:p>
          <a:p>
            <a:pPr marL="285750" indent="-285750">
              <a:spcAft>
                <a:spcPts val="1000"/>
              </a:spcAft>
              <a:buFont typeface="Arial"/>
              <a:buChar char="•"/>
            </a:pPr>
            <a:r>
              <a:rPr lang="en-US" sz="1650" dirty="0">
                <a:solidFill>
                  <a:srgbClr val="000000"/>
                </a:solidFill>
                <a:latin typeface="Calibri"/>
              </a:rPr>
              <a:t>Inverted Index based search, used by most modern search engines, maps each keyword to the list of documents containing it, making lookup near-instant.</a:t>
            </a:r>
          </a:p>
          <a:p>
            <a:pPr marL="285750" indent="-285750">
              <a:spcAft>
                <a:spcPts val="1000"/>
              </a:spcAft>
              <a:buFont typeface="Arial"/>
              <a:buChar char="•"/>
            </a:pPr>
            <a:r>
              <a:rPr lang="en-US" sz="1650" dirty="0">
                <a:solidFill>
                  <a:srgbClr val="000000"/>
                </a:solidFill>
                <a:latin typeface="Calibri"/>
              </a:rPr>
              <a:t>Hash Table based indexing gives average O(1) lookup time to check whether a keyword exists, and is commonly used to build the vocabulary of an inverted index.</a:t>
            </a:r>
          </a:p>
          <a:p>
            <a:pPr marL="285750" indent="-285750">
              <a:spcAft>
                <a:spcPts val="1000"/>
              </a:spcAft>
              <a:buFont typeface="Arial"/>
              <a:buChar char="•"/>
            </a:pPr>
            <a:r>
              <a:rPr lang="en-US" sz="1650" dirty="0">
                <a:solidFill>
                  <a:srgbClr val="000000"/>
                </a:solidFill>
                <a:latin typeface="Calibri"/>
              </a:rPr>
              <a:t>Term-Frequency (TF) based ranking is a widely used technique to rank documents by how often a keyword occurs; simple to compute and effective for keyword-heavy queries.</a:t>
            </a:r>
          </a:p>
          <a:p>
            <a:pPr marL="285750" indent="-285750">
              <a:spcAft>
                <a:spcPts val="1000"/>
              </a:spcAft>
              <a:buFont typeface="Arial"/>
              <a:buChar char="•"/>
            </a:pPr>
            <a:r>
              <a:rPr lang="en-US" sz="1650" dirty="0">
                <a:solidFill>
                  <a:srgbClr val="000000"/>
                </a:solidFill>
                <a:latin typeface="Calibri"/>
              </a:rPr>
              <a:t>Trie / prefix-tree based indexing supports fast prefix and multi-keyword lookups and works well for languages with rich morphology, such as Indian languages.</a:t>
            </a:r>
          </a:p>
          <a:p>
            <a:pPr marL="285750" indent="-285750">
              <a:spcAft>
                <a:spcPts val="1000"/>
              </a:spcAft>
              <a:buFont typeface="Arial"/>
              <a:buChar char="•"/>
            </a:pPr>
            <a:r>
              <a:rPr lang="en-US" sz="1650" dirty="0">
                <a:solidFill>
                  <a:srgbClr val="000000"/>
                </a:solidFill>
                <a:latin typeface="Calibri"/>
              </a:rPr>
              <a:t>General-purpose search tools are usually not optimized for the Unicode complexities of Indian scripts (conjunct characters, matras, multiple encodings) — this is the gap this project addresses.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2660072" y="221673"/>
            <a:ext cx="6723625" cy="65579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92694"/>
            <a:ext cx="6871855" cy="584775"/>
          </a:xfrm>
          <a:prstGeom prst="rect">
            <a:avLst/>
          </a:prstGeom>
          <a:noFill/>
        </p:spPr>
        <p:txBody>
          <a:bodyPr wrap="square" rtlCol="0">
            <a:spAutoFit/>
          </a:bodyPr>
          <a:lstStyle/>
          <a:p>
            <a:pPr algn="ctr"/>
            <a:r>
              <a:rPr lang="en-US" sz="3200" b="1" dirty="0">
                <a:solidFill>
                  <a:schemeClr val="bg1"/>
                </a:solidFill>
              </a:rPr>
              <a:t>Problem Statement and Objectives</a:t>
            </a:r>
          </a:p>
        </p:txBody>
      </p:sp>
      <p:sp>
        <p:nvSpPr>
          <p:cNvPr id="101" name="Problem Statement Content"/>
          <p:cNvSpPr txBox="1"/>
          <p:nvPr/>
        </p:nvSpPr>
        <p:spPr>
          <a:xfrm>
            <a:off x="2900000" y="1000000"/>
            <a:ext cx="8500000" cy="5600000"/>
          </a:xfrm>
          <a:prstGeom prst="rect">
            <a:avLst/>
          </a:prstGeom>
          <a:noFill/>
        </p:spPr>
        <p:txBody>
          <a:bodyPr wrap="square" rtlCol="0">
            <a:normAutofit/>
          </a:bodyPr>
          <a:lstStyle/>
          <a:p>
            <a:pPr>
              <a:spcAft>
                <a:spcPts val="600"/>
              </a:spcAft>
              <a:buNone/>
            </a:pPr>
            <a:r>
              <a:rPr lang="en-US" sz="1900" b="1" dirty="0">
                <a:solidFill>
                  <a:srgbClr val="000000"/>
                </a:solidFill>
                <a:latin typeface="Calibri"/>
              </a:rPr>
              <a:t>Problem Statement</a:t>
            </a:r>
          </a:p>
          <a:p>
            <a:pPr>
              <a:spcAft>
                <a:spcPts val="1200"/>
              </a:spcAft>
              <a:buNone/>
            </a:pPr>
            <a:r>
              <a:rPr lang="en-US" sz="1650" dirty="0">
                <a:solidFill>
                  <a:srgbClr val="000000"/>
                </a:solidFill>
                <a:latin typeface="Calibri"/>
              </a:rPr>
              <a:t>Searching for keywords across a large Indian-language Wikipedia corpus using naive linear search is slow, does not scale with data size, and does not rank results by relevance. There is a need for a system that preprocesses the corpus once, builds an efficient index, and answers single- or multi-keyword queries quickly while correctly handling Unicode text.</a:t>
            </a:r>
          </a:p>
          <a:p>
            <a:pPr>
              <a:spcAft>
                <a:spcPts val="600"/>
              </a:spcAft>
              <a:buNone/>
            </a:pPr>
            <a:r>
              <a:rPr lang="en-US" sz="1900" b="1" dirty="0">
                <a:solidFill>
                  <a:srgbClr val="000000"/>
                </a:solidFill>
                <a:latin typeface="Calibri"/>
              </a:rPr>
              <a:t>Objectives</a:t>
            </a:r>
          </a:p>
          <a:p>
            <a:pPr marL="285750" indent="-285750">
              <a:spcAft>
                <a:spcPts val="1000"/>
              </a:spcAft>
              <a:buFont typeface="Arial"/>
              <a:buChar char="•"/>
            </a:pPr>
            <a:r>
              <a:rPr lang="en-US" sz="1500" dirty="0">
                <a:solidFill>
                  <a:srgbClr val="000000"/>
                </a:solidFill>
                <a:latin typeface="Calibri"/>
              </a:rPr>
              <a:t>Collect and clean a large Indian-language Wikipedia text corpus.</a:t>
            </a:r>
          </a:p>
          <a:p>
            <a:pPr marL="285750" indent="-285750">
              <a:spcAft>
                <a:spcPts val="1000"/>
              </a:spcAft>
              <a:buFont typeface="Arial"/>
              <a:buChar char="•"/>
            </a:pPr>
            <a:r>
              <a:rPr lang="en-US" sz="1500" dirty="0">
                <a:solidFill>
                  <a:srgbClr val="000000"/>
                </a:solidFill>
                <a:latin typeface="Calibri"/>
              </a:rPr>
              <a:t>Preprocess the text: tokenization, normalization and stop-word handling for Unicode scripts.</a:t>
            </a:r>
          </a:p>
          <a:p>
            <a:pPr marL="285750" indent="-285750">
              <a:spcAft>
                <a:spcPts val="1000"/>
              </a:spcAft>
              <a:buFont typeface="Arial"/>
              <a:buChar char="•"/>
            </a:pPr>
            <a:r>
              <a:rPr lang="en-US" sz="1500" dirty="0">
                <a:solidFill>
                  <a:srgbClr val="000000"/>
                </a:solidFill>
                <a:latin typeface="Calibri"/>
              </a:rPr>
              <a:t>Build an efficient index (inverted index / hash-based index) to avoid repeated full-corpus scans.</a:t>
            </a:r>
          </a:p>
          <a:p>
            <a:pPr marL="285750" indent="-285750">
              <a:spcAft>
                <a:spcPts val="1000"/>
              </a:spcAft>
              <a:buFont typeface="Arial"/>
              <a:buChar char="•"/>
            </a:pPr>
            <a:r>
              <a:rPr lang="en-US" sz="1500" dirty="0">
                <a:solidFill>
                  <a:srgbClr val="000000"/>
                </a:solidFill>
                <a:latin typeface="Calibri"/>
              </a:rPr>
              <a:t>Support both single-keyword and multi-keyword search queries.</a:t>
            </a:r>
          </a:p>
          <a:p>
            <a:pPr marL="285750" indent="-285750">
              <a:spcAft>
                <a:spcPts val="1000"/>
              </a:spcAft>
              <a:buFont typeface="Arial"/>
              <a:buChar char="•"/>
            </a:pPr>
            <a:r>
              <a:rPr lang="en-US" sz="1500" dirty="0">
                <a:solidFill>
                  <a:srgbClr val="000000"/>
                </a:solidFill>
                <a:latin typeface="Calibri"/>
              </a:rPr>
              <a:t>Rank and return documents by keyword frequency / relevance.</a:t>
            </a:r>
          </a:p>
          <a:p>
            <a:pPr marL="285750" indent="-285750">
              <a:spcAft>
                <a:spcPts val="1000"/>
              </a:spcAft>
              <a:buFont typeface="Arial"/>
              <a:buChar char="•"/>
            </a:pPr>
            <a:r>
              <a:rPr lang="en-US" sz="1500" dirty="0">
                <a:solidFill>
                  <a:srgbClr val="000000"/>
                </a:solidFill>
                <a:latin typeface="Calibri"/>
              </a:rPr>
              <a:t>Evaluate and improve search efficiency and scalability on large datasets.</a:t>
            </a:r>
          </a:p>
        </p:txBody>
      </p:sp>
    </p:spTree>
    <p:extLst>
      <p:ext uri="{BB962C8B-B14F-4D97-AF65-F5344CB8AC3E}">
        <p14:creationId xmlns:p14="http://schemas.microsoft.com/office/powerpoint/2010/main" val="34410266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Flow Chart</a:t>
            </a:r>
          </a:p>
        </p:txBody>
      </p:sp>
      <p:sp>
        <p:nvSpPr>
          <p:cNvPr id="201" name="LaneA 201"/>
          <p:cNvSpPr/>
          <p:nvPr/>
        </p:nvSpPr>
        <p:spPr>
          <a:xfrm>
            <a:off x="600000" y="1000000"/>
            <a:ext cx="10992000" cy="2100000"/>
          </a:xfrm>
          <a:prstGeom prst="roundRect">
            <a:avLst>
              <a:gd name="adj" fmla="val 6000"/>
            </a:avLst>
          </a:prstGeom>
          <a:solidFill>
            <a:srgbClr val="FDF3F3"/>
          </a:solidFill>
          <a:ln w="12700">
            <a:solidFill>
              <a:srgbClr val="C00000"/>
            </a:solidFill>
          </a:ln>
        </p:spPr>
        <p:txBody>
          <a:bodyPr wrap="square" lIns="91440" rIns="91440" tIns="45720" bIns="45720" rtlCol="0" anchor="ctr">
            <a:noAutofit/>
          </a:bodyPr>
          <a:lstStyle/>
          <a:p>
            <a:endParaRPr lang="en-US"/>
          </a:p>
        </p:txBody>
      </p:sp>
      <p:sp>
        <p:nvSpPr>
          <p:cNvPr id="202" name="Text 202"/>
          <p:cNvSpPr txBox="1"/>
          <p:nvPr/>
        </p:nvSpPr>
        <p:spPr>
          <a:xfrm>
            <a:off x="830000" y="1080000"/>
            <a:ext cx="7000000" cy="330000"/>
          </a:xfrm>
          <a:prstGeom prst="rect">
            <a:avLst/>
          </a:prstGeom>
          <a:noFill/>
        </p:spPr>
        <p:txBody>
          <a:bodyPr wrap="square" lIns="0" rIns="0" tIns="0" bIns="0" rtlCol="0" anchor="t">
            <a:noAutofit/>
          </a:bodyPr>
          <a:lstStyle/>
          <a:p>
            <a:pPr algn="l">
              <a:spcAft>
                <a:spcPts val="0"/>
              </a:spcAft>
              <a:buNone/>
            </a:pPr>
            <a:r>
              <a:rPr lang="en-US" sz="1400" b="1" i="0" dirty="0">
                <a:solidFill>
                  <a:srgbClr val="C00000"/>
                </a:solidFill>
                <a:latin typeface="Calibri"/>
                <a:cs typeface="Nirmala UI"/>
              </a:rPr>
              <a:t>Phase 1 – Indexing </a:t>
            </a:r>
            <a:r>
              <a:rPr lang="en-US" sz="1200" b="0" i="1" dirty="0">
                <a:solidFill>
                  <a:srgbClr val="404040"/>
                </a:solidFill>
                <a:latin typeface="Calibri"/>
                <a:cs typeface="Nirmala UI"/>
              </a:rPr>
              <a:t>(runs once, offline)</a:t>
            </a:r>
          </a:p>
        </p:txBody>
      </p:sp>
      <p:sp>
        <p:nvSpPr>
          <p:cNvPr id="203" name="FlowA 203"/>
          <p:cNvSpPr/>
          <p:nvPr/>
        </p:nvSpPr>
        <p:spPr>
          <a:xfrm>
            <a:off x="850000" y="1450000"/>
            <a:ext cx="2300000" cy="1350000"/>
          </a:xfrm>
          <a:prstGeom prst="roundRect">
            <a:avLst/>
          </a:prstGeom>
          <a:solidFill>
            <a:srgbClr val="C00000"/>
          </a:solidFill>
          <a:ln>
            <a:noFill/>
          </a:ln>
        </p:spPr>
        <p:txBody>
          <a:bodyPr wrap="square" lIns="91440" rIns="91440" tIns="45720" bIns="45720" rtlCol="0" anchor="ctr">
            <a:noAutofit/>
          </a:bodyPr>
          <a:lstStyle/>
          <a:p>
            <a:pPr algn="ctr">
              <a:spcAft>
                <a:spcPts val="300"/>
              </a:spcAft>
              <a:buNone/>
            </a:pPr>
            <a:r>
              <a:rPr lang="en-US" sz="1400" b="1" i="0" dirty="0">
                <a:solidFill>
                  <a:srgbClr val="FFFFFF"/>
                </a:solidFill>
                <a:latin typeface="Calibri"/>
                <a:cs typeface="Nirmala UI"/>
              </a:rPr>
              <a:t>Wikipedia corpus</a:t>
            </a:r>
          </a:p>
          <a:p>
            <a:pPr algn="ctr">
              <a:spcAft>
                <a:spcPts val="0"/>
              </a:spcAft>
              <a:buNone/>
            </a:pPr>
            <a:r>
              <a:rPr lang="en-US" sz="1150" b="0" i="0" dirty="0">
                <a:solidFill>
                  <a:srgbClr val="FFFFFF"/>
                </a:solidFill>
                <a:latin typeface="Calibri"/>
                <a:cs typeface="Nirmala UI"/>
              </a:rPr>
              <a:t>Article files (.txt, UTF-8) in English, Hindi, Telugu, Tamil, Bengali</a:t>
            </a:r>
          </a:p>
        </p:txBody>
      </p:sp>
      <p:cxnSp>
        <p:nvCxnSpPr>
          <p:cNvPr id="204" name="Connector 204"/>
          <p:cNvCxnSpPr/>
          <p:nvPr/>
        </p:nvCxnSpPr>
        <p:spPr>
          <a:xfrm>
            <a:off x="3190000" y="2125000"/>
            <a:ext cx="350667" cy="0"/>
          </a:xfrm>
          <a:prstGeom prst="straightConnector1">
            <a:avLst/>
          </a:prstGeom>
          <a:ln w="28575">
            <a:solidFill>
              <a:srgbClr val="595959"/>
            </a:solidFill>
            <a:tailEnd type="triangle" w="med" len="med"/>
          </a:ln>
        </p:spPr>
      </p:cxnSp>
      <p:sp>
        <p:nvSpPr>
          <p:cNvPr id="205" name="FlowA 205"/>
          <p:cNvSpPr/>
          <p:nvPr/>
        </p:nvSpPr>
        <p:spPr>
          <a:xfrm>
            <a:off x="3580667" y="1450000"/>
            <a:ext cx="2300000" cy="1350000"/>
          </a:xfrm>
          <a:prstGeom prst="roundRect">
            <a:avLst/>
          </a:prstGeom>
          <a:solidFill>
            <a:srgbClr val="C00000"/>
          </a:solidFill>
          <a:ln>
            <a:noFill/>
          </a:ln>
        </p:spPr>
        <p:txBody>
          <a:bodyPr wrap="square" lIns="91440" rIns="91440" tIns="45720" bIns="45720" rtlCol="0" anchor="ctr">
            <a:noAutofit/>
          </a:bodyPr>
          <a:lstStyle/>
          <a:p>
            <a:pPr algn="ctr">
              <a:spcAft>
                <a:spcPts val="300"/>
              </a:spcAft>
              <a:buNone/>
            </a:pPr>
            <a:r>
              <a:rPr lang="en-US" sz="1400" b="1" i="0" dirty="0">
                <a:solidFill>
                  <a:srgbClr val="FFFFFF"/>
                </a:solidFill>
                <a:latin typeface="Calibri"/>
                <a:cs typeface="Nirmala UI"/>
              </a:rPr>
              <a:t>Preprocessing</a:t>
            </a:r>
          </a:p>
          <a:p>
            <a:pPr algn="ctr">
              <a:spcAft>
                <a:spcPts val="0"/>
              </a:spcAft>
              <a:buNone/>
            </a:pPr>
            <a:r>
              <a:rPr lang="en-US" sz="1150" b="0" i="0" dirty="0">
                <a:solidFill>
                  <a:srgbClr val="FFFFFF"/>
                </a:solidFill>
                <a:latin typeface="Calibri"/>
                <a:cs typeface="Nirmala UI"/>
              </a:rPr>
              <a:t>Unicode NFC normalise → tokenise (letters + matras) → lowercase → drop stop-words</a:t>
            </a:r>
          </a:p>
        </p:txBody>
      </p:sp>
      <p:cxnSp>
        <p:nvCxnSpPr>
          <p:cNvPr id="206" name="Connector 206"/>
          <p:cNvCxnSpPr/>
          <p:nvPr/>
        </p:nvCxnSpPr>
        <p:spPr>
          <a:xfrm>
            <a:off x="5920667" y="2125000"/>
            <a:ext cx="350667" cy="0"/>
          </a:xfrm>
          <a:prstGeom prst="straightConnector1">
            <a:avLst/>
          </a:prstGeom>
          <a:ln w="28575">
            <a:solidFill>
              <a:srgbClr val="595959"/>
            </a:solidFill>
            <a:tailEnd type="triangle" w="med" len="med"/>
          </a:ln>
        </p:spPr>
      </p:cxnSp>
      <p:sp>
        <p:nvSpPr>
          <p:cNvPr id="207" name="FlowA 207"/>
          <p:cNvSpPr/>
          <p:nvPr/>
        </p:nvSpPr>
        <p:spPr>
          <a:xfrm>
            <a:off x="6311334" y="1450000"/>
            <a:ext cx="2300000" cy="1350000"/>
          </a:xfrm>
          <a:prstGeom prst="roundRect">
            <a:avLst/>
          </a:prstGeom>
          <a:solidFill>
            <a:srgbClr val="C00000"/>
          </a:solidFill>
          <a:ln>
            <a:noFill/>
          </a:ln>
        </p:spPr>
        <p:txBody>
          <a:bodyPr wrap="square" lIns="91440" rIns="91440" tIns="45720" bIns="45720" rtlCol="0" anchor="ctr">
            <a:noAutofit/>
          </a:bodyPr>
          <a:lstStyle/>
          <a:p>
            <a:pPr algn="ctr">
              <a:spcAft>
                <a:spcPts val="300"/>
              </a:spcAft>
              <a:buNone/>
            </a:pPr>
            <a:r>
              <a:rPr lang="en-US" sz="1400" b="1" i="0" dirty="0">
                <a:solidFill>
                  <a:srgbClr val="FFFFFF"/>
                </a:solidFill>
                <a:latin typeface="Calibri"/>
                <a:cs typeface="Nirmala UI"/>
              </a:rPr>
              <a:t>Build inverted index</a:t>
            </a:r>
          </a:p>
          <a:p>
            <a:pPr algn="ctr">
              <a:spcAft>
                <a:spcPts val="0"/>
              </a:spcAft>
              <a:buNone/>
            </a:pPr>
            <a:r>
              <a:rPr lang="en-US" sz="1150" b="0" i="0" dirty="0">
                <a:solidFill>
                  <a:srgbClr val="FFFFFF"/>
                </a:solidFill>
                <a:latin typeface="Calibri"/>
                <a:cs typeface="Nirmala UI"/>
              </a:rPr>
              <a:t>For every token: term → {docId : frequency} stored in a hash map</a:t>
            </a:r>
          </a:p>
        </p:txBody>
      </p:sp>
      <p:cxnSp>
        <p:nvCxnSpPr>
          <p:cNvPr id="208" name="Connector 208"/>
          <p:cNvCxnSpPr/>
          <p:nvPr/>
        </p:nvCxnSpPr>
        <p:spPr>
          <a:xfrm>
            <a:off x="8651334" y="2125000"/>
            <a:ext cx="350667" cy="0"/>
          </a:xfrm>
          <a:prstGeom prst="straightConnector1">
            <a:avLst/>
          </a:prstGeom>
          <a:ln w="28575">
            <a:solidFill>
              <a:srgbClr val="595959"/>
            </a:solidFill>
            <a:tailEnd type="triangle" w="med" len="med"/>
          </a:ln>
        </p:spPr>
      </p:cxnSp>
      <p:sp>
        <p:nvSpPr>
          <p:cNvPr id="209" name="FlowA 209"/>
          <p:cNvSpPr/>
          <p:nvPr/>
        </p:nvSpPr>
        <p:spPr>
          <a:xfrm>
            <a:off x="9042001" y="1450000"/>
            <a:ext cx="2300000" cy="1350000"/>
          </a:xfrm>
          <a:prstGeom prst="roundRect">
            <a:avLst/>
          </a:prstGeom>
          <a:solidFill>
            <a:srgbClr val="9C0000"/>
          </a:solidFill>
          <a:ln>
            <a:noFill/>
          </a:ln>
        </p:spPr>
        <p:txBody>
          <a:bodyPr wrap="square" lIns="91440" rIns="91440" tIns="45720" bIns="45720" rtlCol="0" anchor="ctr">
            <a:noAutofit/>
          </a:bodyPr>
          <a:lstStyle/>
          <a:p>
            <a:pPr algn="ctr">
              <a:spcAft>
                <a:spcPts val="300"/>
              </a:spcAft>
              <a:buNone/>
            </a:pPr>
            <a:r>
              <a:rPr lang="en-US" sz="1400" b="1" i="0" dirty="0">
                <a:solidFill>
                  <a:srgbClr val="FFFFFF"/>
                </a:solidFill>
                <a:latin typeface="Calibri"/>
                <a:cs typeface="Nirmala UI"/>
              </a:rPr>
              <a:t>Index in memory</a:t>
            </a:r>
          </a:p>
          <a:p>
            <a:pPr algn="ctr">
              <a:spcAft>
                <a:spcPts val="0"/>
              </a:spcAft>
              <a:buNone/>
            </a:pPr>
            <a:r>
              <a:rPr lang="en-US" sz="1150" b="0" i="0" dirty="0">
                <a:solidFill>
                  <a:srgbClr val="FFFFFF"/>
                </a:solidFill>
                <a:latin typeface="Calibri"/>
                <a:cs typeface="Nirmala UI"/>
              </a:rPr>
              <a:t>Vocabulary + posting lists, ready for O(1) average lookup</a:t>
            </a:r>
          </a:p>
        </p:txBody>
      </p:sp>
      <p:sp>
        <p:nvSpPr>
          <p:cNvPr id="210" name="LaneB 210"/>
          <p:cNvSpPr/>
          <p:nvPr/>
        </p:nvSpPr>
        <p:spPr>
          <a:xfrm>
            <a:off x="600000" y="3300000"/>
            <a:ext cx="10992000" cy="3050000"/>
          </a:xfrm>
          <a:prstGeom prst="roundRect">
            <a:avLst>
              <a:gd name="adj" fmla="val 4000"/>
            </a:avLst>
          </a:prstGeom>
          <a:solidFill>
            <a:srgbClr val="FDF3F3"/>
          </a:solidFill>
          <a:ln w="12700">
            <a:solidFill>
              <a:srgbClr val="C00000"/>
            </a:solidFill>
          </a:ln>
        </p:spPr>
        <p:txBody>
          <a:bodyPr wrap="square" lIns="91440" rIns="91440" tIns="45720" bIns="45720" rtlCol="0" anchor="ctr">
            <a:noAutofit/>
          </a:bodyPr>
          <a:lstStyle/>
          <a:p>
            <a:endParaRPr lang="en-US"/>
          </a:p>
        </p:txBody>
      </p:sp>
      <p:sp>
        <p:nvSpPr>
          <p:cNvPr id="211" name="Text 211"/>
          <p:cNvSpPr txBox="1"/>
          <p:nvPr/>
        </p:nvSpPr>
        <p:spPr>
          <a:xfrm>
            <a:off x="830000" y="3380000"/>
            <a:ext cx="4000000" cy="330000"/>
          </a:xfrm>
          <a:prstGeom prst="rect">
            <a:avLst/>
          </a:prstGeom>
          <a:noFill/>
        </p:spPr>
        <p:txBody>
          <a:bodyPr wrap="square" lIns="0" rIns="0" tIns="0" bIns="0" rtlCol="0" anchor="t">
            <a:noAutofit/>
          </a:bodyPr>
          <a:lstStyle/>
          <a:p>
            <a:pPr algn="l">
              <a:spcAft>
                <a:spcPts val="0"/>
              </a:spcAft>
              <a:buNone/>
            </a:pPr>
            <a:r>
              <a:rPr lang="en-US" sz="1400" b="1" i="0" dirty="0">
                <a:solidFill>
                  <a:srgbClr val="C00000"/>
                </a:solidFill>
                <a:latin typeface="Calibri"/>
                <a:cs typeface="Nirmala UI"/>
              </a:rPr>
              <a:t>Phase 2 – Query </a:t>
            </a:r>
            <a:r>
              <a:rPr lang="en-US" sz="1200" b="0" i="1" dirty="0">
                <a:solidFill>
                  <a:srgbClr val="404040"/>
                </a:solidFill>
                <a:latin typeface="Calibri"/>
                <a:cs typeface="Nirmala UI"/>
              </a:rPr>
              <a:t>(every search)</a:t>
            </a:r>
          </a:p>
        </p:txBody>
      </p:sp>
      <p:sp>
        <p:nvSpPr>
          <p:cNvPr id="212" name="FlowB 212"/>
          <p:cNvSpPr/>
          <p:nvPr/>
        </p:nvSpPr>
        <p:spPr>
          <a:xfrm>
            <a:off x="850000" y="3950000"/>
            <a:ext cx="1500000" cy="1450000"/>
          </a:xfrm>
          <a:prstGeom prst="roundRect">
            <a:avLst/>
          </a:prstGeom>
          <a:solidFill>
            <a:srgbClr val="C00000"/>
          </a:solidFill>
          <a:ln>
            <a:noFill/>
          </a:ln>
        </p:spPr>
        <p:txBody>
          <a:bodyPr wrap="square" lIns="73152" rIns="73152" tIns="45720" bIns="45720" rtlCol="0" anchor="ctr">
            <a:noAutofit/>
          </a:bodyPr>
          <a:lstStyle/>
          <a:p>
            <a:pPr algn="ctr">
              <a:spcAft>
                <a:spcPts val="300"/>
              </a:spcAft>
              <a:buNone/>
            </a:pPr>
            <a:r>
              <a:rPr lang="en-US" sz="1300" b="1" i="0" dirty="0">
                <a:solidFill>
                  <a:srgbClr val="FFFFFF"/>
                </a:solidFill>
                <a:latin typeface="Calibri"/>
                <a:cs typeface="Nirmala UI"/>
              </a:rPr>
              <a:t>User query</a:t>
            </a:r>
          </a:p>
          <a:p>
            <a:pPr algn="ctr">
              <a:spcAft>
                <a:spcPts val="0"/>
              </a:spcAft>
              <a:buNone/>
            </a:pPr>
            <a:r>
              <a:rPr lang="en-US" sz="1100" b="0" i="0" dirty="0">
                <a:solidFill>
                  <a:srgbClr val="FFFFFF"/>
                </a:solidFill>
                <a:latin typeface="Calibri"/>
                <a:cs typeface="Nirmala UI"/>
              </a:rPr>
              <a:t>One or more keywords in any script</a:t>
            </a:r>
          </a:p>
        </p:txBody>
      </p:sp>
      <p:cxnSp>
        <p:nvCxnSpPr>
          <p:cNvPr id="213" name="Connector 213"/>
          <p:cNvCxnSpPr/>
          <p:nvPr/>
        </p:nvCxnSpPr>
        <p:spPr>
          <a:xfrm>
            <a:off x="2380000" y="4675000"/>
            <a:ext cx="238400" cy="0"/>
          </a:xfrm>
          <a:prstGeom prst="straightConnector1">
            <a:avLst/>
          </a:prstGeom>
          <a:ln w="28575">
            <a:solidFill>
              <a:srgbClr val="595959"/>
            </a:solidFill>
            <a:tailEnd type="triangle" w="med" len="med"/>
          </a:ln>
        </p:spPr>
      </p:cxnSp>
      <p:sp>
        <p:nvSpPr>
          <p:cNvPr id="214" name="FlowB 214"/>
          <p:cNvSpPr/>
          <p:nvPr/>
        </p:nvSpPr>
        <p:spPr>
          <a:xfrm>
            <a:off x="2648400" y="3950000"/>
            <a:ext cx="1500000" cy="1450000"/>
          </a:xfrm>
          <a:prstGeom prst="roundRect">
            <a:avLst/>
          </a:prstGeom>
          <a:solidFill>
            <a:srgbClr val="C00000"/>
          </a:solidFill>
          <a:ln>
            <a:noFill/>
          </a:ln>
        </p:spPr>
        <p:txBody>
          <a:bodyPr wrap="square" lIns="73152" rIns="73152" tIns="45720" bIns="45720" rtlCol="0" anchor="ctr">
            <a:noAutofit/>
          </a:bodyPr>
          <a:lstStyle/>
          <a:p>
            <a:pPr algn="ctr">
              <a:spcAft>
                <a:spcPts val="300"/>
              </a:spcAft>
              <a:buNone/>
            </a:pPr>
            <a:r>
              <a:rPr lang="en-US" sz="1300" b="1" i="0" dirty="0">
                <a:solidFill>
                  <a:srgbClr val="FFFFFF"/>
                </a:solidFill>
                <a:latin typeface="Calibri"/>
                <a:cs typeface="Nirmala UI"/>
              </a:rPr>
              <a:t>Preprocess query</a:t>
            </a:r>
          </a:p>
          <a:p>
            <a:pPr algn="ctr">
              <a:spcAft>
                <a:spcPts val="0"/>
              </a:spcAft>
              <a:buNone/>
            </a:pPr>
            <a:r>
              <a:rPr lang="en-US" sz="1100" b="0" i="0" dirty="0">
                <a:solidFill>
                  <a:srgbClr val="FFFFFF"/>
                </a:solidFill>
                <a:latin typeface="Calibri"/>
                <a:cs typeface="Nirmala UI"/>
              </a:rPr>
              <a:t>Same normalise + tokenise steps as the corpus</a:t>
            </a:r>
          </a:p>
        </p:txBody>
      </p:sp>
      <p:cxnSp>
        <p:nvCxnSpPr>
          <p:cNvPr id="215" name="Connector 215"/>
          <p:cNvCxnSpPr/>
          <p:nvPr/>
        </p:nvCxnSpPr>
        <p:spPr>
          <a:xfrm>
            <a:off x="4178400" y="4675000"/>
            <a:ext cx="238400" cy="0"/>
          </a:xfrm>
          <a:prstGeom prst="straightConnector1">
            <a:avLst/>
          </a:prstGeom>
          <a:ln w="28575">
            <a:solidFill>
              <a:srgbClr val="595959"/>
            </a:solidFill>
            <a:tailEnd type="triangle" w="med" len="med"/>
          </a:ln>
        </p:spPr>
      </p:cxnSp>
      <p:sp>
        <p:nvSpPr>
          <p:cNvPr id="216" name="FlowB 216"/>
          <p:cNvSpPr/>
          <p:nvPr/>
        </p:nvSpPr>
        <p:spPr>
          <a:xfrm>
            <a:off x="4446800" y="3950000"/>
            <a:ext cx="1500000" cy="1450000"/>
          </a:xfrm>
          <a:prstGeom prst="roundRect">
            <a:avLst/>
          </a:prstGeom>
          <a:solidFill>
            <a:srgbClr val="C00000"/>
          </a:solidFill>
          <a:ln>
            <a:noFill/>
          </a:ln>
        </p:spPr>
        <p:txBody>
          <a:bodyPr wrap="square" lIns="73152" rIns="73152" tIns="45720" bIns="45720" rtlCol="0" anchor="ctr">
            <a:noAutofit/>
          </a:bodyPr>
          <a:lstStyle/>
          <a:p>
            <a:pPr algn="ctr">
              <a:spcAft>
                <a:spcPts val="300"/>
              </a:spcAft>
              <a:buNone/>
            </a:pPr>
            <a:r>
              <a:rPr lang="en-US" sz="1300" b="1" i="0" dirty="0">
                <a:solidFill>
                  <a:srgbClr val="FFFFFF"/>
                </a:solidFill>
                <a:latin typeface="Calibri"/>
                <a:cs typeface="Nirmala UI"/>
              </a:rPr>
              <a:t>Hash lookup</a:t>
            </a:r>
          </a:p>
          <a:p>
            <a:pPr algn="ctr">
              <a:spcAft>
                <a:spcPts val="0"/>
              </a:spcAft>
              <a:buNone/>
            </a:pPr>
            <a:r>
              <a:rPr lang="en-US" sz="1100" b="0" i="0" dirty="0">
                <a:solidFill>
                  <a:srgbClr val="FFFFFF"/>
                </a:solidFill>
                <a:latin typeface="Calibri"/>
                <a:cs typeface="Nirmala UI"/>
              </a:rPr>
              <a:t>Fetch each keyword’s postings from the index</a:t>
            </a:r>
          </a:p>
        </p:txBody>
      </p:sp>
      <p:cxnSp>
        <p:nvCxnSpPr>
          <p:cNvPr id="217" name="Connector 217"/>
          <p:cNvCxnSpPr/>
          <p:nvPr/>
        </p:nvCxnSpPr>
        <p:spPr>
          <a:xfrm>
            <a:off x="5976800" y="4675000"/>
            <a:ext cx="238400" cy="0"/>
          </a:xfrm>
          <a:prstGeom prst="straightConnector1">
            <a:avLst/>
          </a:prstGeom>
          <a:ln w="28575">
            <a:solidFill>
              <a:srgbClr val="595959"/>
            </a:solidFill>
            <a:tailEnd type="triangle" w="med" len="med"/>
          </a:ln>
        </p:spPr>
      </p:cxnSp>
      <p:sp>
        <p:nvSpPr>
          <p:cNvPr id="218" name="FlowB 218"/>
          <p:cNvSpPr/>
          <p:nvPr/>
        </p:nvSpPr>
        <p:spPr>
          <a:xfrm>
            <a:off x="6245200" y="3950000"/>
            <a:ext cx="1500000" cy="1450000"/>
          </a:xfrm>
          <a:prstGeom prst="roundRect">
            <a:avLst/>
          </a:prstGeom>
          <a:solidFill>
            <a:srgbClr val="C00000"/>
          </a:solidFill>
          <a:ln>
            <a:noFill/>
          </a:ln>
        </p:spPr>
        <p:txBody>
          <a:bodyPr wrap="square" lIns="73152" rIns="73152" tIns="45720" bIns="45720" rtlCol="0" anchor="ctr">
            <a:noAutofit/>
          </a:bodyPr>
          <a:lstStyle/>
          <a:p>
            <a:pPr algn="ctr">
              <a:spcAft>
                <a:spcPts val="300"/>
              </a:spcAft>
              <a:buNone/>
            </a:pPr>
            <a:r>
              <a:rPr lang="en-US" sz="1300" b="1" i="0" dirty="0">
                <a:solidFill>
                  <a:srgbClr val="FFFFFF"/>
                </a:solidFill>
                <a:latin typeface="Calibri"/>
                <a:cs typeface="Nirmala UI"/>
              </a:rPr>
              <a:t>Combine matches</a:t>
            </a:r>
          </a:p>
          <a:p>
            <a:pPr algn="ctr">
              <a:spcAft>
                <a:spcPts val="0"/>
              </a:spcAft>
              <a:buNone/>
            </a:pPr>
            <a:r>
              <a:rPr lang="en-US" sz="1100" b="0" i="0" dirty="0">
                <a:solidFill>
                  <a:srgbClr val="FFFFFF"/>
                </a:solidFill>
                <a:latin typeface="Calibri"/>
                <a:cs typeface="Nirmala UI"/>
              </a:rPr>
              <a:t>ANY = union of documents, ALL = intersection</a:t>
            </a:r>
          </a:p>
        </p:txBody>
      </p:sp>
      <p:cxnSp>
        <p:nvCxnSpPr>
          <p:cNvPr id="219" name="Connector 219"/>
          <p:cNvCxnSpPr/>
          <p:nvPr/>
        </p:nvCxnSpPr>
        <p:spPr>
          <a:xfrm>
            <a:off x="7775200" y="4675000"/>
            <a:ext cx="238400" cy="0"/>
          </a:xfrm>
          <a:prstGeom prst="straightConnector1">
            <a:avLst/>
          </a:prstGeom>
          <a:ln w="28575">
            <a:solidFill>
              <a:srgbClr val="595959"/>
            </a:solidFill>
            <a:tailEnd type="triangle" w="med" len="med"/>
          </a:ln>
        </p:spPr>
      </p:cxnSp>
      <p:sp>
        <p:nvSpPr>
          <p:cNvPr id="220" name="FlowB 220"/>
          <p:cNvSpPr/>
          <p:nvPr/>
        </p:nvSpPr>
        <p:spPr>
          <a:xfrm>
            <a:off x="8043600" y="3950000"/>
            <a:ext cx="1500000" cy="1450000"/>
          </a:xfrm>
          <a:prstGeom prst="roundRect">
            <a:avLst/>
          </a:prstGeom>
          <a:solidFill>
            <a:srgbClr val="C00000"/>
          </a:solidFill>
          <a:ln>
            <a:noFill/>
          </a:ln>
        </p:spPr>
        <p:txBody>
          <a:bodyPr wrap="square" lIns="73152" rIns="73152" tIns="45720" bIns="45720" rtlCol="0" anchor="ctr">
            <a:noAutofit/>
          </a:bodyPr>
          <a:lstStyle/>
          <a:p>
            <a:pPr algn="ctr">
              <a:spcAft>
                <a:spcPts val="300"/>
              </a:spcAft>
              <a:buNone/>
            </a:pPr>
            <a:r>
              <a:rPr lang="en-US" sz="1300" b="1" i="0" dirty="0">
                <a:solidFill>
                  <a:srgbClr val="FFFFFF"/>
                </a:solidFill>
                <a:latin typeface="Calibri"/>
                <a:cs typeface="Nirmala UI"/>
              </a:rPr>
              <a:t>Rank</a:t>
            </a:r>
          </a:p>
          <a:p>
            <a:pPr algn="ctr">
              <a:spcAft>
                <a:spcPts val="0"/>
              </a:spcAft>
              <a:buNone/>
            </a:pPr>
            <a:r>
              <a:rPr lang="en-US" sz="1100" b="0" i="0" dirty="0">
                <a:solidFill>
                  <a:srgbClr val="FFFFFF"/>
                </a:solidFill>
                <a:latin typeface="Calibri"/>
                <a:cs typeface="Nirmala UI"/>
              </a:rPr>
              <a:t>Score = sum of term frequencies, sorted high → low</a:t>
            </a:r>
          </a:p>
        </p:txBody>
      </p:sp>
      <p:cxnSp>
        <p:nvCxnSpPr>
          <p:cNvPr id="221" name="Connector 221"/>
          <p:cNvCxnSpPr/>
          <p:nvPr/>
        </p:nvCxnSpPr>
        <p:spPr>
          <a:xfrm>
            <a:off x="9573600" y="4675000"/>
            <a:ext cx="238400" cy="0"/>
          </a:xfrm>
          <a:prstGeom prst="straightConnector1">
            <a:avLst/>
          </a:prstGeom>
          <a:ln w="28575">
            <a:solidFill>
              <a:srgbClr val="595959"/>
            </a:solidFill>
            <a:tailEnd type="triangle" w="med" len="med"/>
          </a:ln>
        </p:spPr>
      </p:cxnSp>
      <p:sp>
        <p:nvSpPr>
          <p:cNvPr id="222" name="FlowB 222"/>
          <p:cNvSpPr/>
          <p:nvPr/>
        </p:nvSpPr>
        <p:spPr>
          <a:xfrm>
            <a:off x="9842000" y="3950000"/>
            <a:ext cx="1500000" cy="1450000"/>
          </a:xfrm>
          <a:prstGeom prst="roundRect">
            <a:avLst/>
          </a:prstGeom>
          <a:solidFill>
            <a:srgbClr val="9C0000"/>
          </a:solidFill>
          <a:ln>
            <a:noFill/>
          </a:ln>
        </p:spPr>
        <p:txBody>
          <a:bodyPr wrap="square" lIns="73152" rIns="73152" tIns="45720" bIns="45720" rtlCol="0" anchor="ctr">
            <a:noAutofit/>
          </a:bodyPr>
          <a:lstStyle/>
          <a:p>
            <a:pPr algn="ctr">
              <a:spcAft>
                <a:spcPts val="300"/>
              </a:spcAft>
              <a:buNone/>
            </a:pPr>
            <a:r>
              <a:rPr lang="en-US" sz="1300" b="1" i="0" dirty="0">
                <a:solidFill>
                  <a:srgbClr val="FFFFFF"/>
                </a:solidFill>
                <a:latin typeface="Calibri"/>
                <a:cs typeface="Nirmala UI"/>
              </a:rPr>
              <a:t>Ranked results</a:t>
            </a:r>
          </a:p>
          <a:p>
            <a:pPr algn="ctr">
              <a:spcAft>
                <a:spcPts val="0"/>
              </a:spcAft>
              <a:buNone/>
            </a:pPr>
            <a:r>
              <a:rPr lang="en-US" sz="1100" b="0" i="0" dirty="0">
                <a:solidFill>
                  <a:srgbClr val="FFFFFF"/>
                </a:solidFill>
                <a:latin typeface="Calibri"/>
                <a:cs typeface="Nirmala UI"/>
              </a:rPr>
              <a:t>Title, score and highlighted snippet</a:t>
            </a:r>
          </a:p>
        </p:txBody>
      </p:sp>
      <p:cxnSp>
        <p:nvCxnSpPr>
          <p:cNvPr id="223" name="Connector 223"/>
          <p:cNvCxnSpPr/>
          <p:nvPr/>
        </p:nvCxnSpPr>
        <p:spPr>
          <a:xfrm>
            <a:off x="10192001" y="2800000"/>
            <a:ext cx="0" cy="400000"/>
          </a:xfrm>
          <a:prstGeom prst="straightConnector1">
            <a:avLst/>
          </a:prstGeom>
          <a:ln w="22225">
            <a:solidFill>
              <a:srgbClr val="9C0000"/>
            </a:solidFill>
            <a:prstDash val="dash"/>
          </a:ln>
        </p:spPr>
      </p:cxnSp>
      <p:cxnSp>
        <p:nvCxnSpPr>
          <p:cNvPr id="224" name="Connector 224"/>
          <p:cNvCxnSpPr/>
          <p:nvPr/>
        </p:nvCxnSpPr>
        <p:spPr>
          <a:xfrm flipH="1">
            <a:off x="5196800" y="3200000"/>
            <a:ext cx="4995201" cy="0"/>
          </a:xfrm>
          <a:prstGeom prst="straightConnector1">
            <a:avLst/>
          </a:prstGeom>
          <a:ln w="22225">
            <a:solidFill>
              <a:srgbClr val="9C0000"/>
            </a:solidFill>
            <a:prstDash val="dash"/>
          </a:ln>
        </p:spPr>
      </p:cxnSp>
      <p:cxnSp>
        <p:nvCxnSpPr>
          <p:cNvPr id="225" name="Connector 225"/>
          <p:cNvCxnSpPr/>
          <p:nvPr/>
        </p:nvCxnSpPr>
        <p:spPr>
          <a:xfrm>
            <a:off x="5196800" y="3200000"/>
            <a:ext cx="0" cy="750000"/>
          </a:xfrm>
          <a:prstGeom prst="straightConnector1">
            <a:avLst/>
          </a:prstGeom>
          <a:ln w="22225">
            <a:solidFill>
              <a:srgbClr val="9C0000"/>
            </a:solidFill>
            <a:prstDash val="dash"/>
            <a:tailEnd type="triangle" w="med" len="med"/>
          </a:ln>
        </p:spPr>
      </p:cxnSp>
      <p:sp>
        <p:nvSpPr>
          <p:cNvPr id="226" name="Text 226"/>
          <p:cNvSpPr txBox="1"/>
          <p:nvPr/>
        </p:nvSpPr>
        <p:spPr>
          <a:xfrm>
            <a:off x="5316800" y="3430000"/>
            <a:ext cx="4200000" cy="260000"/>
          </a:xfrm>
          <a:prstGeom prst="rect">
            <a:avLst/>
          </a:prstGeom>
          <a:noFill/>
        </p:spPr>
        <p:txBody>
          <a:bodyPr wrap="square" lIns="0" rIns="0" tIns="0" bIns="0" rtlCol="0" anchor="t">
            <a:noAutofit/>
          </a:bodyPr>
          <a:lstStyle/>
          <a:p>
            <a:pPr algn="l">
              <a:spcAft>
                <a:spcPts val="0"/>
              </a:spcAft>
              <a:buNone/>
            </a:pPr>
            <a:r>
              <a:rPr lang="en-US" sz="1100" b="0" i="1" dirty="0">
                <a:solidFill>
                  <a:srgbClr val="9C0000"/>
                </a:solidFill>
                <a:latin typeface="Calibri"/>
                <a:cs typeface="Nirmala UI"/>
              </a:rPr>
              <a:t>index is read here – no corpus scan</a:t>
            </a:r>
          </a:p>
        </p:txBody>
      </p:sp>
      <p:sp>
        <p:nvSpPr>
          <p:cNvPr id="227" name="Chip 227"/>
          <p:cNvSpPr/>
          <p:nvPr/>
        </p:nvSpPr>
        <p:spPr>
          <a:xfrm>
            <a:off x="850000" y="5580000"/>
            <a:ext cx="3350000" cy="560000"/>
          </a:xfrm>
          <a:prstGeom prst="roundRect">
            <a:avLst/>
          </a:prstGeom>
          <a:solidFill>
            <a:srgbClr val="FFFFFF"/>
          </a:solidFill>
          <a:ln w="9525">
            <a:solidFill>
              <a:srgbClr val="C00000"/>
            </a:solidFill>
          </a:ln>
        </p:spPr>
        <p:txBody>
          <a:bodyPr wrap="square" lIns="91440" rIns="91440" tIns="45720" bIns="45720" rtlCol="0" anchor="ctr">
            <a:noAutofit/>
          </a:bodyPr>
          <a:lstStyle/>
          <a:p>
            <a:pPr algn="ctr">
              <a:spcAft>
                <a:spcPts val="0"/>
              </a:spcAft>
              <a:buNone/>
            </a:pPr>
            <a:r>
              <a:rPr lang="en-US" sz="1150" b="0" i="0" dirty="0">
                <a:solidFill>
                  <a:srgbClr val="000000"/>
                </a:solidFill>
                <a:latin typeface="Calibri"/>
                <a:cs typeface="Nirmala UI"/>
              </a:rPr>
              <a:t>Index built once: 10 docs, 229 terms (27–40 ms)</a:t>
            </a:r>
          </a:p>
        </p:txBody>
      </p:sp>
      <p:sp>
        <p:nvSpPr>
          <p:cNvPr id="228" name="Chip 228"/>
          <p:cNvSpPr/>
          <p:nvPr/>
        </p:nvSpPr>
        <p:spPr>
          <a:xfrm>
            <a:off x="4421000" y="5580000"/>
            <a:ext cx="3350000" cy="560000"/>
          </a:xfrm>
          <a:prstGeom prst="roundRect">
            <a:avLst/>
          </a:prstGeom>
          <a:solidFill>
            <a:srgbClr val="FFFFFF"/>
          </a:solidFill>
          <a:ln w="9525">
            <a:solidFill>
              <a:srgbClr val="C00000"/>
            </a:solidFill>
          </a:ln>
        </p:spPr>
        <p:txBody>
          <a:bodyPr wrap="square" lIns="91440" rIns="91440" tIns="45720" bIns="45720" rtlCol="0" anchor="ctr">
            <a:noAutofit/>
          </a:bodyPr>
          <a:lstStyle/>
          <a:p>
            <a:pPr algn="ctr">
              <a:spcAft>
                <a:spcPts val="0"/>
              </a:spcAft>
              <a:buNone/>
            </a:pPr>
            <a:r>
              <a:rPr lang="en-US" sz="1150" b="0" i="0" dirty="0">
                <a:solidFill>
                  <a:srgbClr val="000000"/>
                </a:solidFill>
                <a:latin typeface="Calibri"/>
                <a:cs typeface="Nirmala UI"/>
              </a:rPr>
              <a:t>Sample query “river ganga”: 4 results in 2.63 ms</a:t>
            </a:r>
          </a:p>
        </p:txBody>
      </p:sp>
      <p:sp>
        <p:nvSpPr>
          <p:cNvPr id="229" name="Chip 229"/>
          <p:cNvSpPr/>
          <p:nvPr/>
        </p:nvSpPr>
        <p:spPr>
          <a:xfrm>
            <a:off x="7992000" y="5580000"/>
            <a:ext cx="3350000" cy="560000"/>
          </a:xfrm>
          <a:prstGeom prst="roundRect">
            <a:avLst/>
          </a:prstGeom>
          <a:solidFill>
            <a:srgbClr val="FFFFFF"/>
          </a:solidFill>
          <a:ln w="9525">
            <a:solidFill>
              <a:srgbClr val="C00000"/>
            </a:solidFill>
          </a:ln>
        </p:spPr>
        <p:txBody>
          <a:bodyPr wrap="square" lIns="91440" rIns="91440" tIns="45720" bIns="45720" rtlCol="0" anchor="ctr">
            <a:noAutofit/>
          </a:bodyPr>
          <a:lstStyle/>
          <a:p>
            <a:pPr algn="ctr">
              <a:spcAft>
                <a:spcPts val="0"/>
              </a:spcAft>
              <a:buNone/>
            </a:pPr>
            <a:r>
              <a:rPr lang="en-US" sz="1150" b="0" i="0" dirty="0">
                <a:solidFill>
                  <a:srgbClr val="000000"/>
                </a:solidFill>
                <a:latin typeface="Calibri"/>
                <a:cs typeface="Nirmala UI"/>
              </a:rPr>
              <a:t>Ranking score = Σ term frequency of all keywords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kern="0" dirty="0">
                <a:solidFill>
                  <a:schemeClr val="bg1"/>
                </a:solidFill>
                <a:effectLst/>
                <a:ea typeface="Times New Roman" panose="02020603050405020304" pitchFamily="18" charset="0"/>
              </a:rPr>
              <a:t>Results</a:t>
            </a:r>
            <a:endParaRPr lang="en-US" sz="3200" b="1" dirty="0">
              <a:solidFill>
                <a:schemeClr val="bg1"/>
              </a:solidFill>
            </a:endParaRPr>
          </a:p>
        </p:txBody>
      </p:sp>
      <p:sp>
        <p:nvSpPr>
          <p:cNvPr id="253" name="ResultBullets 253"/>
          <p:cNvSpPr txBox="1"/>
          <p:nvPr/>
        </p:nvSpPr>
        <p:spPr>
          <a:xfrm>
            <a:off x="600000" y="1050000"/>
            <a:ext cx="5400000" cy="4300000"/>
          </a:xfrm>
          <a:prstGeom prst="rect">
            <a:avLst/>
          </a:prstGeom>
          <a:solidFill>
            <a:srgbClr val="FFFFFF"/>
          </a:solidFill>
          <a:ln w="9525">
            <a:solidFill>
              <a:srgbClr val="D9B8B8"/>
            </a:solidFill>
          </a:ln>
        </p:spPr>
        <p:txBody>
          <a:bodyPr wrap="square" lIns="137160" rIns="137160" tIns="137160" bIns="137160" rtlCol="0">
            <a:normAutofit/>
          </a:bodyPr>
          <a:lstStyle/>
          <a:p>
            <a:pPr marL="285750" indent="-285750">
              <a:spcAft>
                <a:spcPts val="900"/>
              </a:spcAft>
              <a:buFont typeface="Arial"/>
              <a:buChar char="•"/>
            </a:pPr>
            <a:r>
              <a:rPr lang="en-US" sz="1400" b="0" i="0" dirty="0">
                <a:solidFill>
                  <a:srgbClr val="000000"/>
                </a:solidFill>
                <a:latin typeface="Calibri"/>
                <a:cs typeface="Nirmala UI"/>
              </a:rPr>
              <a:t>A sample corpus of 10 articles in 5 languages (English, Hindi, Telugu, Tamil, Bengali) was loaded and indexed into 229 unique terms.</a:t>
            </a:r>
          </a:p>
          <a:p>
            <a:pPr marL="285750" indent="-285750">
              <a:spcAft>
                <a:spcPts val="900"/>
              </a:spcAft>
              <a:buFont typeface="Arial"/>
              <a:buChar char="•"/>
            </a:pPr>
            <a:r>
              <a:rPr lang="en-US" sz="1400" b="0" i="0" dirty="0">
                <a:solidFill>
                  <a:srgbClr val="000000"/>
                </a:solidFill>
                <a:latin typeface="Calibri"/>
                <a:cs typeface="Nirmala UI"/>
              </a:rPr>
              <a:t>The index is built once, in about 28–40 ms across two program runs.</a:t>
            </a:r>
          </a:p>
          <a:p>
            <a:pPr marL="285750" indent="-285750">
              <a:spcAft>
                <a:spcPts val="900"/>
              </a:spcAft>
              <a:buFont typeface="Arial"/>
              <a:buChar char="•"/>
            </a:pPr>
            <a:r>
              <a:rPr lang="en-US" sz="1400" b="0" i="0" dirty="0">
                <a:solidFill>
                  <a:srgbClr val="000000"/>
                </a:solidFill>
                <a:latin typeface="Calibri"/>
                <a:cs typeface="Nirmala UI"/>
              </a:rPr>
              <a:t>The query “river ganga” (match ANY) returned 4 ranked documents in 2.63 ms using the index.</a:t>
            </a:r>
          </a:p>
          <a:p>
            <a:pPr marL="285750" indent="-285750">
              <a:spcAft>
                <a:spcPts val="900"/>
              </a:spcAft>
              <a:buFont typeface="Arial"/>
              <a:buChar char="•"/>
            </a:pPr>
            <a:r>
              <a:rPr lang="en-US" sz="1400" b="0" i="0" dirty="0">
                <a:solidFill>
                  <a:srgbClr val="000000"/>
                </a:solidFill>
                <a:latin typeface="Calibri"/>
                <a:cs typeface="Nirmala UI"/>
              </a:rPr>
              <a:t>Multi-keyword scores add up term frequencies, so the Ganga River article (score 4) ranks first.</a:t>
            </a:r>
          </a:p>
          <a:p>
            <a:pPr marL="285750" indent="-285750">
              <a:spcAft>
                <a:spcPts val="900"/>
              </a:spcAft>
              <a:buFont typeface="Arial"/>
              <a:buChar char="•"/>
            </a:pPr>
            <a:r>
              <a:rPr lang="en-US" sz="1400" b="0" i="0" dirty="0">
                <a:solidFill>
                  <a:srgbClr val="000000"/>
                </a:solidFill>
                <a:latin typeface="Calibri"/>
                <a:cs typeface="Nirmala UI"/>
              </a:rPr>
              <a:t>Corpus files are read as UTF-8 and split by a Unicode-aware tokenizer, so Devanagari, Telugu, Tamil and Bengali text is handled the same way as English.</a:t>
            </a:r>
          </a:p>
          <a:p>
            <a:pPr marL="285750" indent="-285750">
              <a:spcAft>
                <a:spcPts val="900"/>
              </a:spcAft>
              <a:buFont typeface="Arial"/>
              <a:buChar char="•"/>
            </a:pPr>
            <a:r>
              <a:rPr lang="en-US" sz="1400" b="0" i="0" dirty="0">
                <a:solidFill>
                  <a:srgbClr val="000000"/>
                </a:solidFill>
                <a:latin typeface="Calibri"/>
                <a:cs typeface="Nirmala UI"/>
              </a:rPr>
              <a:t>Menu option 3 repeats 3000 queries with the index and with a linear scan, giving a direct speed comparison on any corpus size.</a:t>
            </a:r>
          </a:p>
        </p:txBody>
      </p:sp>
      <p:graphicFrame>
        <p:nvGraphicFramePr>
          <p:cNvPr id="254" name="StatsTable 254"/>
          <p:cNvGraphicFramePr>
            <a:graphicFrameLocks noGrp="1"/>
          </p:cNvGraphicFramePr>
          <p:nvPr/>
        </p:nvGraphicFramePr>
        <p:xfrm>
          <a:off x="6200000" y="1050000"/>
          <a:ext cx="5392000" cy="2310000"/>
        </p:xfrm>
        <a:graphic>
          <a:graphicData uri="http://schemas.openxmlformats.org/drawingml/2006/table">
            <a:tbl>
              <a:tblPr firstRow="1"/>
              <a:tblGrid>
                <a:gridCol w="2700000"/>
                <a:gridCol w="2692000"/>
              </a:tblGrid>
              <a:tr h="330000">
                <a:tc>
                  <a:txBody>
                    <a:bodyPr/>
                    <a:lstStyle/>
                    <a:p>
                      <a:pPr algn="l"/>
                      <a:r>
                        <a:rPr lang="en-US" sz="1200" b="1" i="0" dirty="0">
                          <a:solidFill>
                            <a:srgbClr val="FFFFFF"/>
                          </a:solidFill>
                          <a:latin typeface="Calibri"/>
                          <a:cs typeface="Nirmala UI"/>
                        </a:rPr>
                        <a:t>Program output</a:t>
                      </a:r>
                    </a:p>
                  </a:txBody>
                  <a:tcPr marL="91440" marR="91440" marT="45720" marB="45720" anchor="ctr">
                    <a:lnL w="6350">
                      <a:solidFill>
                        <a:srgbClr val="D9B8B8"/>
                      </a:solidFill>
                    </a:lnL>
                    <a:lnR w="6350">
                      <a:solidFill>
                        <a:srgbClr val="D9B8B8"/>
                      </a:solidFill>
                    </a:lnR>
                    <a:lnT w="6350">
                      <a:solidFill>
                        <a:srgbClr val="D9B8B8"/>
                      </a:solidFill>
                    </a:lnT>
                    <a:lnB w="6350">
                      <a:solidFill>
                        <a:srgbClr val="D9B8B8"/>
                      </a:solidFill>
                    </a:lnB>
                    <a:solidFill>
                      <a:srgbClr val="C00000"/>
                    </a:solidFill>
                  </a:tcPr>
                </a:tc>
                <a:tc>
                  <a:txBody>
                    <a:bodyPr/>
                    <a:lstStyle/>
                    <a:p>
                      <a:pPr algn="l"/>
                      <a:r>
                        <a:rPr lang="en-US" sz="1200" b="1" i="0" dirty="0">
                          <a:solidFill>
                            <a:srgbClr val="FFFFFF"/>
                          </a:solidFill>
                          <a:latin typeface="Calibri"/>
                          <a:cs typeface="Nirmala UI"/>
                        </a:rPr>
                        <a:t>Value</a:t>
                      </a:r>
                    </a:p>
                  </a:txBody>
                  <a:tcPr marL="91440" marR="91440" marT="45720" marB="45720" anchor="ctr">
                    <a:lnL w="6350">
                      <a:solidFill>
                        <a:srgbClr val="D9B8B8"/>
                      </a:solidFill>
                    </a:lnL>
                    <a:lnR w="6350">
                      <a:solidFill>
                        <a:srgbClr val="D9B8B8"/>
                      </a:solidFill>
                    </a:lnR>
                    <a:lnT w="6350">
                      <a:solidFill>
                        <a:srgbClr val="D9B8B8"/>
                      </a:solidFill>
                    </a:lnT>
                    <a:lnB w="6350">
                      <a:solidFill>
                        <a:srgbClr val="D9B8B8"/>
                      </a:solidFill>
                    </a:lnB>
                    <a:solidFill>
                      <a:srgbClr val="C00000"/>
                    </a:solidFill>
                  </a:tcPr>
                </a:tc>
              </a:tr>
              <a:tr h="330000">
                <a:tc>
                  <a:txBody>
                    <a:bodyPr/>
                    <a:lstStyle/>
                    <a:p>
                      <a:pPr algn="l"/>
                      <a:r>
                        <a:rPr lang="en-US" sz="1200" b="1" i="0" dirty="0">
                          <a:solidFill>
                            <a:srgbClr val="000000"/>
                          </a:solidFill>
                          <a:latin typeface="Calibri"/>
                          <a:cs typeface="Nirmala UI"/>
                        </a:rPr>
                        <a:t>Documents loaded</a:t>
                      </a:r>
                    </a:p>
                  </a:txBody>
                  <a:tcPr marL="91440" marR="91440" marT="45720" marB="45720" anchor="ctr">
                    <a:lnL w="6350">
                      <a:solidFill>
                        <a:srgbClr val="D9B8B8"/>
                      </a:solidFill>
                    </a:lnL>
                    <a:lnR w="6350">
                      <a:solidFill>
                        <a:srgbClr val="D9B8B8"/>
                      </a:solidFill>
                    </a:lnR>
                    <a:lnT w="6350">
                      <a:solidFill>
                        <a:srgbClr val="D9B8B8"/>
                      </a:solidFill>
                    </a:lnT>
                    <a:lnB w="6350">
                      <a:solidFill>
                        <a:srgbClr val="D9B8B8"/>
                      </a:solidFill>
                    </a:lnB>
                    <a:solidFill>
                      <a:srgbClr val="FFFFFF"/>
                    </a:solidFill>
                  </a:tcPr>
                </a:tc>
                <a:tc>
                  <a:txBody>
                    <a:bodyPr/>
                    <a:lstStyle/>
                    <a:p>
                      <a:pPr algn="l"/>
                      <a:r>
                        <a:rPr lang="en-US" sz="1200" b="0" i="0" dirty="0">
                          <a:solidFill>
                            <a:srgbClr val="000000"/>
                          </a:solidFill>
                          <a:latin typeface="Calibri"/>
                          <a:cs typeface="Nirmala UI"/>
                        </a:rPr>
                        <a:t>10</a:t>
                      </a:r>
                    </a:p>
                  </a:txBody>
                  <a:tcPr marL="91440" marR="91440" marT="45720" marB="45720" anchor="ctr">
                    <a:lnL w="6350">
                      <a:solidFill>
                        <a:srgbClr val="D9B8B8"/>
                      </a:solidFill>
                    </a:lnL>
                    <a:lnR w="6350">
                      <a:solidFill>
                        <a:srgbClr val="D9B8B8"/>
                      </a:solidFill>
                    </a:lnR>
                    <a:lnT w="6350">
                      <a:solidFill>
                        <a:srgbClr val="D9B8B8"/>
                      </a:solidFill>
                    </a:lnT>
                    <a:lnB w="6350">
                      <a:solidFill>
                        <a:srgbClr val="D9B8B8"/>
                      </a:solidFill>
                    </a:lnB>
                    <a:solidFill>
                      <a:srgbClr val="FFFFFF"/>
                    </a:solidFill>
                  </a:tcPr>
                </a:tc>
              </a:tr>
              <a:tr h="330000">
                <a:tc>
                  <a:txBody>
                    <a:bodyPr/>
                    <a:lstStyle/>
                    <a:p>
                      <a:pPr algn="l"/>
                      <a:r>
                        <a:rPr lang="en-US" sz="1200" b="1" i="0" dirty="0">
                          <a:solidFill>
                            <a:srgbClr val="000000"/>
                          </a:solidFill>
                          <a:latin typeface="Calibri"/>
                          <a:cs typeface="Nirmala UI"/>
                        </a:rPr>
                        <a:t>Unique terms in index</a:t>
                      </a:r>
                    </a:p>
                  </a:txBody>
                  <a:tcPr marL="91440" marR="91440" marT="45720" marB="45720" anchor="ctr">
                    <a:lnL w="6350">
                      <a:solidFill>
                        <a:srgbClr val="D9B8B8"/>
                      </a:solidFill>
                    </a:lnL>
                    <a:lnR w="6350">
                      <a:solidFill>
                        <a:srgbClr val="D9B8B8"/>
                      </a:solidFill>
                    </a:lnR>
                    <a:lnT w="6350">
                      <a:solidFill>
                        <a:srgbClr val="D9B8B8"/>
                      </a:solidFill>
                    </a:lnT>
                    <a:lnB w="6350">
                      <a:solidFill>
                        <a:srgbClr val="D9B8B8"/>
                      </a:solidFill>
                    </a:lnB>
                    <a:solidFill>
                      <a:srgbClr val="FBEAEA"/>
                    </a:solidFill>
                  </a:tcPr>
                </a:tc>
                <a:tc>
                  <a:txBody>
                    <a:bodyPr/>
                    <a:lstStyle/>
                    <a:p>
                      <a:pPr algn="l"/>
                      <a:r>
                        <a:rPr lang="en-US" sz="1200" b="0" i="0" dirty="0">
                          <a:solidFill>
                            <a:srgbClr val="000000"/>
                          </a:solidFill>
                          <a:latin typeface="Calibri"/>
                          <a:cs typeface="Nirmala UI"/>
                        </a:rPr>
                        <a:t>229</a:t>
                      </a:r>
                    </a:p>
                  </a:txBody>
                  <a:tcPr marL="91440" marR="91440" marT="45720" marB="45720" anchor="ctr">
                    <a:lnL w="6350">
                      <a:solidFill>
                        <a:srgbClr val="D9B8B8"/>
                      </a:solidFill>
                    </a:lnL>
                    <a:lnR w="6350">
                      <a:solidFill>
                        <a:srgbClr val="D9B8B8"/>
                      </a:solidFill>
                    </a:lnR>
                    <a:lnT w="6350">
                      <a:solidFill>
                        <a:srgbClr val="D9B8B8"/>
                      </a:solidFill>
                    </a:lnT>
                    <a:lnB w="6350">
                      <a:solidFill>
                        <a:srgbClr val="D9B8B8"/>
                      </a:solidFill>
                    </a:lnB>
                    <a:solidFill>
                      <a:srgbClr val="FBEAEA"/>
                    </a:solidFill>
                  </a:tcPr>
                </a:tc>
              </a:tr>
              <a:tr h="330000">
                <a:tc>
                  <a:txBody>
                    <a:bodyPr/>
                    <a:lstStyle/>
                    <a:p>
                      <a:pPr algn="l"/>
                      <a:r>
                        <a:rPr lang="en-US" sz="1200" b="1" i="0" dirty="0">
                          <a:solidFill>
                            <a:srgbClr val="000000"/>
                          </a:solidFill>
                          <a:latin typeface="Calibri"/>
                          <a:cs typeface="Nirmala UI"/>
                        </a:rPr>
                        <a:t>Index build time</a:t>
                      </a:r>
                    </a:p>
                  </a:txBody>
                  <a:tcPr marL="91440" marR="91440" marT="45720" marB="45720" anchor="ctr">
                    <a:lnL w="6350">
                      <a:solidFill>
                        <a:srgbClr val="D9B8B8"/>
                      </a:solidFill>
                    </a:lnL>
                    <a:lnR w="6350">
                      <a:solidFill>
                        <a:srgbClr val="D9B8B8"/>
                      </a:solidFill>
                    </a:lnR>
                    <a:lnT w="6350">
                      <a:solidFill>
                        <a:srgbClr val="D9B8B8"/>
                      </a:solidFill>
                    </a:lnT>
                    <a:lnB w="6350">
                      <a:solidFill>
                        <a:srgbClr val="D9B8B8"/>
                      </a:solidFill>
                    </a:lnB>
                    <a:solidFill>
                      <a:srgbClr val="FFFFFF"/>
                    </a:solidFill>
                  </a:tcPr>
                </a:tc>
                <a:tc>
                  <a:txBody>
                    <a:bodyPr/>
                    <a:lstStyle/>
                    <a:p>
                      <a:pPr algn="l"/>
                      <a:r>
                        <a:rPr lang="en-US" sz="1200" b="0" i="0" dirty="0">
                          <a:solidFill>
                            <a:srgbClr val="000000"/>
                          </a:solidFill>
                          <a:latin typeface="Calibri"/>
                          <a:cs typeface="Nirmala UI"/>
                        </a:rPr>
                        <a:t>27.7 – 39.9 ms</a:t>
                      </a:r>
                    </a:p>
                  </a:txBody>
                  <a:tcPr marL="91440" marR="91440" marT="45720" marB="45720" anchor="ctr">
                    <a:lnL w="6350">
                      <a:solidFill>
                        <a:srgbClr val="D9B8B8"/>
                      </a:solidFill>
                    </a:lnL>
                    <a:lnR w="6350">
                      <a:solidFill>
                        <a:srgbClr val="D9B8B8"/>
                      </a:solidFill>
                    </a:lnR>
                    <a:lnT w="6350">
                      <a:solidFill>
                        <a:srgbClr val="D9B8B8"/>
                      </a:solidFill>
                    </a:lnT>
                    <a:lnB w="6350">
                      <a:solidFill>
                        <a:srgbClr val="D9B8B8"/>
                      </a:solidFill>
                    </a:lnB>
                    <a:solidFill>
                      <a:srgbClr val="FFFFFF"/>
                    </a:solidFill>
                  </a:tcPr>
                </a:tc>
              </a:tr>
              <a:tr h="330000">
                <a:tc>
                  <a:txBody>
                    <a:bodyPr/>
                    <a:lstStyle/>
                    <a:p>
                      <a:pPr algn="l"/>
                      <a:r>
                        <a:rPr lang="en-US" sz="1200" b="1" i="0" dirty="0">
                          <a:solidFill>
                            <a:srgbClr val="000000"/>
                          </a:solidFill>
                          <a:latin typeface="Calibri"/>
                          <a:cs typeface="Nirmala UI"/>
                        </a:rPr>
                        <a:t>Query (match ANY)</a:t>
                      </a:r>
                    </a:p>
                  </a:txBody>
                  <a:tcPr marL="91440" marR="91440" marT="45720" marB="45720" anchor="ctr">
                    <a:lnL w="6350">
                      <a:solidFill>
                        <a:srgbClr val="D9B8B8"/>
                      </a:solidFill>
                    </a:lnL>
                    <a:lnR w="6350">
                      <a:solidFill>
                        <a:srgbClr val="D9B8B8"/>
                      </a:solidFill>
                    </a:lnR>
                    <a:lnT w="6350">
                      <a:solidFill>
                        <a:srgbClr val="D9B8B8"/>
                      </a:solidFill>
                    </a:lnT>
                    <a:lnB w="6350">
                      <a:solidFill>
                        <a:srgbClr val="D9B8B8"/>
                      </a:solidFill>
                    </a:lnB>
                    <a:solidFill>
                      <a:srgbClr val="FBEAEA"/>
                    </a:solidFill>
                  </a:tcPr>
                </a:tc>
                <a:tc>
                  <a:txBody>
                    <a:bodyPr/>
                    <a:lstStyle/>
                    <a:p>
                      <a:pPr algn="l"/>
                      <a:r>
                        <a:rPr lang="en-US" sz="1200" b="0" i="0" dirty="0">
                          <a:solidFill>
                            <a:srgbClr val="000000"/>
                          </a:solidFill>
                          <a:latin typeface="Calibri"/>
                          <a:cs typeface="Nirmala UI"/>
                        </a:rPr>
                        <a:t>river ganga</a:t>
                      </a:r>
                    </a:p>
                  </a:txBody>
                  <a:tcPr marL="91440" marR="91440" marT="45720" marB="45720" anchor="ctr">
                    <a:lnL w="6350">
                      <a:solidFill>
                        <a:srgbClr val="D9B8B8"/>
                      </a:solidFill>
                    </a:lnL>
                    <a:lnR w="6350">
                      <a:solidFill>
                        <a:srgbClr val="D9B8B8"/>
                      </a:solidFill>
                    </a:lnR>
                    <a:lnT w="6350">
                      <a:solidFill>
                        <a:srgbClr val="D9B8B8"/>
                      </a:solidFill>
                    </a:lnT>
                    <a:lnB w="6350">
                      <a:solidFill>
                        <a:srgbClr val="D9B8B8"/>
                      </a:solidFill>
                    </a:lnB>
                    <a:solidFill>
                      <a:srgbClr val="FBEAEA"/>
                    </a:solidFill>
                  </a:tcPr>
                </a:tc>
              </a:tr>
              <a:tr h="330000">
                <a:tc>
                  <a:txBody>
                    <a:bodyPr/>
                    <a:lstStyle/>
                    <a:p>
                      <a:pPr algn="l"/>
                      <a:r>
                        <a:rPr lang="en-US" sz="1200" b="1" i="0" dirty="0">
                          <a:solidFill>
                            <a:srgbClr val="000000"/>
                          </a:solidFill>
                          <a:latin typeface="Calibri"/>
                          <a:cs typeface="Nirmala UI"/>
                        </a:rPr>
                        <a:t>Indexed search time</a:t>
                      </a:r>
                    </a:p>
                  </a:txBody>
                  <a:tcPr marL="91440" marR="91440" marT="45720" marB="45720" anchor="ctr">
                    <a:lnL w="6350">
                      <a:solidFill>
                        <a:srgbClr val="D9B8B8"/>
                      </a:solidFill>
                    </a:lnL>
                    <a:lnR w="6350">
                      <a:solidFill>
                        <a:srgbClr val="D9B8B8"/>
                      </a:solidFill>
                    </a:lnR>
                    <a:lnT w="6350">
                      <a:solidFill>
                        <a:srgbClr val="D9B8B8"/>
                      </a:solidFill>
                    </a:lnT>
                    <a:lnB w="6350">
                      <a:solidFill>
                        <a:srgbClr val="D9B8B8"/>
                      </a:solidFill>
                    </a:lnB>
                    <a:solidFill>
                      <a:srgbClr val="FFFFFF"/>
                    </a:solidFill>
                  </a:tcPr>
                </a:tc>
                <a:tc>
                  <a:txBody>
                    <a:bodyPr/>
                    <a:lstStyle/>
                    <a:p>
                      <a:pPr algn="l"/>
                      <a:r>
                        <a:rPr lang="en-US" sz="1200" b="0" i="0" dirty="0">
                          <a:solidFill>
                            <a:srgbClr val="000000"/>
                          </a:solidFill>
                          <a:latin typeface="Calibri"/>
                          <a:cs typeface="Nirmala UI"/>
                        </a:rPr>
                        <a:t>2.63 ms</a:t>
                      </a:r>
                    </a:p>
                  </a:txBody>
                  <a:tcPr marL="91440" marR="91440" marT="45720" marB="45720" anchor="ctr">
                    <a:lnL w="6350">
                      <a:solidFill>
                        <a:srgbClr val="D9B8B8"/>
                      </a:solidFill>
                    </a:lnL>
                    <a:lnR w="6350">
                      <a:solidFill>
                        <a:srgbClr val="D9B8B8"/>
                      </a:solidFill>
                    </a:lnR>
                    <a:lnT w="6350">
                      <a:solidFill>
                        <a:srgbClr val="D9B8B8"/>
                      </a:solidFill>
                    </a:lnT>
                    <a:lnB w="6350">
                      <a:solidFill>
                        <a:srgbClr val="D9B8B8"/>
                      </a:solidFill>
                    </a:lnB>
                    <a:solidFill>
                      <a:srgbClr val="FFFFFF"/>
                    </a:solidFill>
                  </a:tcPr>
                </a:tc>
              </a:tr>
              <a:tr h="330000">
                <a:tc>
                  <a:txBody>
                    <a:bodyPr/>
                    <a:lstStyle/>
                    <a:p>
                      <a:pPr algn="l"/>
                      <a:r>
                        <a:rPr lang="en-US" sz="1200" b="1" i="0" dirty="0">
                          <a:solidFill>
                            <a:srgbClr val="000000"/>
                          </a:solidFill>
                          <a:latin typeface="Calibri"/>
                          <a:cs typeface="Nirmala UI"/>
                        </a:rPr>
                        <a:t>Results returned</a:t>
                      </a:r>
                    </a:p>
                  </a:txBody>
                  <a:tcPr marL="91440" marR="91440" marT="45720" marB="45720" anchor="ctr">
                    <a:lnL w="6350">
                      <a:solidFill>
                        <a:srgbClr val="D9B8B8"/>
                      </a:solidFill>
                    </a:lnL>
                    <a:lnR w="6350">
                      <a:solidFill>
                        <a:srgbClr val="D9B8B8"/>
                      </a:solidFill>
                    </a:lnR>
                    <a:lnT w="6350">
                      <a:solidFill>
                        <a:srgbClr val="D9B8B8"/>
                      </a:solidFill>
                    </a:lnT>
                    <a:lnB w="6350">
                      <a:solidFill>
                        <a:srgbClr val="D9B8B8"/>
                      </a:solidFill>
                    </a:lnB>
                    <a:solidFill>
                      <a:srgbClr val="FBEAEA"/>
                    </a:solidFill>
                  </a:tcPr>
                </a:tc>
                <a:tc>
                  <a:txBody>
                    <a:bodyPr/>
                    <a:lstStyle/>
                    <a:p>
                      <a:pPr algn="l"/>
                      <a:r>
                        <a:rPr lang="en-US" sz="1200" b="0" i="0" dirty="0">
                          <a:solidFill>
                            <a:srgbClr val="000000"/>
                          </a:solidFill>
                          <a:latin typeface="Calibri"/>
                          <a:cs typeface="Nirmala UI"/>
                        </a:rPr>
                        <a:t>4</a:t>
                      </a:r>
                    </a:p>
                  </a:txBody>
                  <a:tcPr marL="91440" marR="91440" marT="45720" marB="45720" anchor="ctr">
                    <a:lnL w="6350">
                      <a:solidFill>
                        <a:srgbClr val="D9B8B8"/>
                      </a:solidFill>
                    </a:lnL>
                    <a:lnR w="6350">
                      <a:solidFill>
                        <a:srgbClr val="D9B8B8"/>
                      </a:solidFill>
                    </a:lnR>
                    <a:lnT w="6350">
                      <a:solidFill>
                        <a:srgbClr val="D9B8B8"/>
                      </a:solidFill>
                    </a:lnT>
                    <a:lnB w="6350">
                      <a:solidFill>
                        <a:srgbClr val="D9B8B8"/>
                      </a:solidFill>
                    </a:lnB>
                    <a:solidFill>
                      <a:srgbClr val="FBEAEA"/>
                    </a:solidFill>
                  </a:tcPr>
                </a:tc>
              </a:tr>
            </a:tbl>
          </a:graphicData>
        </a:graphic>
      </p:graphicFrame>
      <p:graphicFrame>
        <p:nvGraphicFramePr>
          <p:cNvPr id="255" name="RankTable 255"/>
          <p:cNvGraphicFramePr>
            <a:graphicFrameLocks noGrp="1"/>
          </p:cNvGraphicFramePr>
          <p:nvPr/>
        </p:nvGraphicFramePr>
        <p:xfrm>
          <a:off x="6200000" y="3600000"/>
          <a:ext cx="5392000" cy="1650000"/>
        </p:xfrm>
        <a:graphic>
          <a:graphicData uri="http://schemas.openxmlformats.org/drawingml/2006/table">
            <a:tbl>
              <a:tblPr firstRow="1"/>
              <a:tblGrid>
                <a:gridCol w="800000"/>
                <a:gridCol w="3392000"/>
                <a:gridCol w="1200000"/>
              </a:tblGrid>
              <a:tr h="330000">
                <a:tc>
                  <a:txBody>
                    <a:bodyPr/>
                    <a:lstStyle/>
                    <a:p>
                      <a:pPr algn="ctr"/>
                      <a:r>
                        <a:rPr lang="en-US" sz="1200" b="1" i="0" dirty="0">
                          <a:solidFill>
                            <a:srgbClr val="FFFFFF"/>
                          </a:solidFill>
                          <a:latin typeface="Calibri"/>
                          <a:cs typeface="Nirmala UI"/>
                        </a:rPr>
                        <a:t>Rank</a:t>
                      </a:r>
                    </a:p>
                  </a:txBody>
                  <a:tcPr marL="91440" marR="91440" marT="45720" marB="45720" anchor="ctr">
                    <a:lnL w="6350">
                      <a:solidFill>
                        <a:srgbClr val="D9B8B8"/>
                      </a:solidFill>
                    </a:lnL>
                    <a:lnR w="6350">
                      <a:solidFill>
                        <a:srgbClr val="D9B8B8"/>
                      </a:solidFill>
                    </a:lnR>
                    <a:lnT w="6350">
                      <a:solidFill>
                        <a:srgbClr val="D9B8B8"/>
                      </a:solidFill>
                    </a:lnT>
                    <a:lnB w="6350">
                      <a:solidFill>
                        <a:srgbClr val="D9B8B8"/>
                      </a:solidFill>
                    </a:lnB>
                    <a:solidFill>
                      <a:srgbClr val="C00000"/>
                    </a:solidFill>
                  </a:tcPr>
                </a:tc>
                <a:tc>
                  <a:txBody>
                    <a:bodyPr/>
                    <a:lstStyle/>
                    <a:p>
                      <a:pPr algn="l"/>
                      <a:r>
                        <a:rPr lang="en-US" sz="1200" b="1" i="0" dirty="0">
                          <a:solidFill>
                            <a:srgbClr val="FFFFFF"/>
                          </a:solidFill>
                          <a:latin typeface="Calibri"/>
                          <a:cs typeface="Nirmala UI"/>
                        </a:rPr>
                        <a:t>Document</a:t>
                      </a:r>
                    </a:p>
                  </a:txBody>
                  <a:tcPr marL="91440" marR="91440" marT="45720" marB="45720" anchor="ctr">
                    <a:lnL w="6350">
                      <a:solidFill>
                        <a:srgbClr val="D9B8B8"/>
                      </a:solidFill>
                    </a:lnL>
                    <a:lnR w="6350">
                      <a:solidFill>
                        <a:srgbClr val="D9B8B8"/>
                      </a:solidFill>
                    </a:lnR>
                    <a:lnT w="6350">
                      <a:solidFill>
                        <a:srgbClr val="D9B8B8"/>
                      </a:solidFill>
                    </a:lnT>
                    <a:lnB w="6350">
                      <a:solidFill>
                        <a:srgbClr val="D9B8B8"/>
                      </a:solidFill>
                    </a:lnB>
                    <a:solidFill>
                      <a:srgbClr val="C00000"/>
                    </a:solidFill>
                  </a:tcPr>
                </a:tc>
                <a:tc>
                  <a:txBody>
                    <a:bodyPr/>
                    <a:lstStyle/>
                    <a:p>
                      <a:pPr algn="ctr"/>
                      <a:r>
                        <a:rPr lang="en-US" sz="1200" b="1" i="0" dirty="0">
                          <a:solidFill>
                            <a:srgbClr val="FFFFFF"/>
                          </a:solidFill>
                          <a:latin typeface="Calibri"/>
                          <a:cs typeface="Nirmala UI"/>
                        </a:rPr>
                        <a:t>Score</a:t>
                      </a:r>
                    </a:p>
                  </a:txBody>
                  <a:tcPr marL="91440" marR="91440" marT="45720" marB="45720" anchor="ctr">
                    <a:lnL w="6350">
                      <a:solidFill>
                        <a:srgbClr val="D9B8B8"/>
                      </a:solidFill>
                    </a:lnL>
                    <a:lnR w="6350">
                      <a:solidFill>
                        <a:srgbClr val="D9B8B8"/>
                      </a:solidFill>
                    </a:lnR>
                    <a:lnT w="6350">
                      <a:solidFill>
                        <a:srgbClr val="D9B8B8"/>
                      </a:solidFill>
                    </a:lnT>
                    <a:lnB w="6350">
                      <a:solidFill>
                        <a:srgbClr val="D9B8B8"/>
                      </a:solidFill>
                    </a:lnB>
                    <a:solidFill>
                      <a:srgbClr val="C00000"/>
                    </a:solidFill>
                  </a:tcPr>
                </a:tc>
              </a:tr>
              <a:tr h="330000">
                <a:tc>
                  <a:txBody>
                    <a:bodyPr/>
                    <a:lstStyle/>
                    <a:p>
                      <a:pPr algn="ctr"/>
                      <a:r>
                        <a:rPr lang="en-US" sz="1200" b="0" i="0" dirty="0">
                          <a:solidFill>
                            <a:srgbClr val="000000"/>
                          </a:solidFill>
                          <a:latin typeface="Calibri"/>
                          <a:cs typeface="Nirmala UI"/>
                        </a:rPr>
                        <a:t>1</a:t>
                      </a:r>
                    </a:p>
                  </a:txBody>
                  <a:tcPr marL="91440" marR="91440" marT="45720" marB="45720" anchor="ctr">
                    <a:lnL w="6350">
                      <a:solidFill>
                        <a:srgbClr val="D9B8B8"/>
                      </a:solidFill>
                    </a:lnL>
                    <a:lnR w="6350">
                      <a:solidFill>
                        <a:srgbClr val="D9B8B8"/>
                      </a:solidFill>
                    </a:lnR>
                    <a:lnT w="6350">
                      <a:solidFill>
                        <a:srgbClr val="D9B8B8"/>
                      </a:solidFill>
                    </a:lnT>
                    <a:lnB w="6350">
                      <a:solidFill>
                        <a:srgbClr val="D9B8B8"/>
                      </a:solidFill>
                    </a:lnB>
                    <a:solidFill>
                      <a:srgbClr val="FFFFFF"/>
                    </a:solidFill>
                  </a:tcPr>
                </a:tc>
                <a:tc>
                  <a:txBody>
                    <a:bodyPr/>
                    <a:lstStyle/>
                    <a:p>
                      <a:pPr algn="l"/>
                      <a:r>
                        <a:rPr lang="en-US" sz="1200" b="0" i="0" dirty="0">
                          <a:solidFill>
                            <a:srgbClr val="000000"/>
                          </a:solidFill>
                          <a:latin typeface="Calibri"/>
                          <a:cs typeface="Nirmala UI"/>
                        </a:rPr>
                        <a:t>ganga river english</a:t>
                      </a:r>
                    </a:p>
                  </a:txBody>
                  <a:tcPr marL="91440" marR="91440" marT="45720" marB="45720" anchor="ctr">
                    <a:lnL w="6350">
                      <a:solidFill>
                        <a:srgbClr val="D9B8B8"/>
                      </a:solidFill>
                    </a:lnL>
                    <a:lnR w="6350">
                      <a:solidFill>
                        <a:srgbClr val="D9B8B8"/>
                      </a:solidFill>
                    </a:lnR>
                    <a:lnT w="6350">
                      <a:solidFill>
                        <a:srgbClr val="D9B8B8"/>
                      </a:solidFill>
                    </a:lnT>
                    <a:lnB w="6350">
                      <a:solidFill>
                        <a:srgbClr val="D9B8B8"/>
                      </a:solidFill>
                    </a:lnB>
                    <a:solidFill>
                      <a:srgbClr val="FFFFFF"/>
                    </a:solidFill>
                  </a:tcPr>
                </a:tc>
                <a:tc>
                  <a:txBody>
                    <a:bodyPr/>
                    <a:lstStyle/>
                    <a:p>
                      <a:pPr algn="ctr"/>
                      <a:r>
                        <a:rPr lang="en-US" sz="1200" b="0" i="0" dirty="0">
                          <a:solidFill>
                            <a:srgbClr val="000000"/>
                          </a:solidFill>
                          <a:latin typeface="Calibri"/>
                          <a:cs typeface="Nirmala UI"/>
                        </a:rPr>
                        <a:t>4</a:t>
                      </a:r>
                    </a:p>
                  </a:txBody>
                  <a:tcPr marL="91440" marR="91440" marT="45720" marB="45720" anchor="ctr">
                    <a:lnL w="6350">
                      <a:solidFill>
                        <a:srgbClr val="D9B8B8"/>
                      </a:solidFill>
                    </a:lnL>
                    <a:lnR w="6350">
                      <a:solidFill>
                        <a:srgbClr val="D9B8B8"/>
                      </a:solidFill>
                    </a:lnR>
                    <a:lnT w="6350">
                      <a:solidFill>
                        <a:srgbClr val="D9B8B8"/>
                      </a:solidFill>
                    </a:lnT>
                    <a:lnB w="6350">
                      <a:solidFill>
                        <a:srgbClr val="D9B8B8"/>
                      </a:solidFill>
                    </a:lnB>
                    <a:solidFill>
                      <a:srgbClr val="FFFFFF"/>
                    </a:solidFill>
                  </a:tcPr>
                </a:tc>
              </a:tr>
              <a:tr h="330000">
                <a:tc>
                  <a:txBody>
                    <a:bodyPr/>
                    <a:lstStyle/>
                    <a:p>
                      <a:pPr algn="ctr"/>
                      <a:r>
                        <a:rPr lang="en-US" sz="1200" b="0" i="0" dirty="0">
                          <a:solidFill>
                            <a:srgbClr val="000000"/>
                          </a:solidFill>
                          <a:latin typeface="Calibri"/>
                          <a:cs typeface="Nirmala UI"/>
                        </a:rPr>
                        <a:t>2</a:t>
                      </a:r>
                    </a:p>
                  </a:txBody>
                  <a:tcPr marL="91440" marR="91440" marT="45720" marB="45720" anchor="ctr">
                    <a:lnL w="6350">
                      <a:solidFill>
                        <a:srgbClr val="D9B8B8"/>
                      </a:solidFill>
                    </a:lnL>
                    <a:lnR w="6350">
                      <a:solidFill>
                        <a:srgbClr val="D9B8B8"/>
                      </a:solidFill>
                    </a:lnR>
                    <a:lnT w="6350">
                      <a:solidFill>
                        <a:srgbClr val="D9B8B8"/>
                      </a:solidFill>
                    </a:lnT>
                    <a:lnB w="6350">
                      <a:solidFill>
                        <a:srgbClr val="D9B8B8"/>
                      </a:solidFill>
                    </a:lnB>
                    <a:solidFill>
                      <a:srgbClr val="FBEAEA"/>
                    </a:solidFill>
                  </a:tcPr>
                </a:tc>
                <a:tc>
                  <a:txBody>
                    <a:bodyPr/>
                    <a:lstStyle/>
                    <a:p>
                      <a:pPr algn="l"/>
                      <a:r>
                        <a:rPr lang="en-US" sz="1200" b="0" i="0" dirty="0">
                          <a:solidFill>
                            <a:srgbClr val="000000"/>
                          </a:solidFill>
                          <a:latin typeface="Calibri"/>
                          <a:cs typeface="Nirmala UI"/>
                        </a:rPr>
                        <a:t>himalayas english</a:t>
                      </a:r>
                    </a:p>
                  </a:txBody>
                  <a:tcPr marL="91440" marR="91440" marT="45720" marB="45720" anchor="ctr">
                    <a:lnL w="6350">
                      <a:solidFill>
                        <a:srgbClr val="D9B8B8"/>
                      </a:solidFill>
                    </a:lnL>
                    <a:lnR w="6350">
                      <a:solidFill>
                        <a:srgbClr val="D9B8B8"/>
                      </a:solidFill>
                    </a:lnR>
                    <a:lnT w="6350">
                      <a:solidFill>
                        <a:srgbClr val="D9B8B8"/>
                      </a:solidFill>
                    </a:lnT>
                    <a:lnB w="6350">
                      <a:solidFill>
                        <a:srgbClr val="D9B8B8"/>
                      </a:solidFill>
                    </a:lnB>
                    <a:solidFill>
                      <a:srgbClr val="FBEAEA"/>
                    </a:solidFill>
                  </a:tcPr>
                </a:tc>
                <a:tc>
                  <a:txBody>
                    <a:bodyPr/>
                    <a:lstStyle/>
                    <a:p>
                      <a:pPr algn="ctr"/>
                      <a:r>
                        <a:rPr lang="en-US" sz="1200" b="0" i="0" dirty="0">
                          <a:solidFill>
                            <a:srgbClr val="000000"/>
                          </a:solidFill>
                          <a:latin typeface="Calibri"/>
                          <a:cs typeface="Nirmala UI"/>
                        </a:rPr>
                        <a:t>1</a:t>
                      </a:r>
                    </a:p>
                  </a:txBody>
                  <a:tcPr marL="91440" marR="91440" marT="45720" marB="45720" anchor="ctr">
                    <a:lnL w="6350">
                      <a:solidFill>
                        <a:srgbClr val="D9B8B8"/>
                      </a:solidFill>
                    </a:lnL>
                    <a:lnR w="6350">
                      <a:solidFill>
                        <a:srgbClr val="D9B8B8"/>
                      </a:solidFill>
                    </a:lnR>
                    <a:lnT w="6350">
                      <a:solidFill>
                        <a:srgbClr val="D9B8B8"/>
                      </a:solidFill>
                    </a:lnT>
                    <a:lnB w="6350">
                      <a:solidFill>
                        <a:srgbClr val="D9B8B8"/>
                      </a:solidFill>
                    </a:lnB>
                    <a:solidFill>
                      <a:srgbClr val="FBEAEA"/>
                    </a:solidFill>
                  </a:tcPr>
                </a:tc>
              </a:tr>
              <a:tr h="330000">
                <a:tc>
                  <a:txBody>
                    <a:bodyPr/>
                    <a:lstStyle/>
                    <a:p>
                      <a:pPr algn="ctr"/>
                      <a:r>
                        <a:rPr lang="en-US" sz="1200" b="0" i="0" dirty="0">
                          <a:solidFill>
                            <a:srgbClr val="000000"/>
                          </a:solidFill>
                          <a:latin typeface="Calibri"/>
                          <a:cs typeface="Nirmala UI"/>
                        </a:rPr>
                        <a:t>3</a:t>
                      </a:r>
                    </a:p>
                  </a:txBody>
                  <a:tcPr marL="91440" marR="91440" marT="45720" marB="45720" anchor="ctr">
                    <a:lnL w="6350">
                      <a:solidFill>
                        <a:srgbClr val="D9B8B8"/>
                      </a:solidFill>
                    </a:lnL>
                    <a:lnR w="6350">
                      <a:solidFill>
                        <a:srgbClr val="D9B8B8"/>
                      </a:solidFill>
                    </a:lnR>
                    <a:lnT w="6350">
                      <a:solidFill>
                        <a:srgbClr val="D9B8B8"/>
                      </a:solidFill>
                    </a:lnT>
                    <a:lnB w="6350">
                      <a:solidFill>
                        <a:srgbClr val="D9B8B8"/>
                      </a:solidFill>
                    </a:lnB>
                    <a:solidFill>
                      <a:srgbClr val="FFFFFF"/>
                    </a:solidFill>
                  </a:tcPr>
                </a:tc>
                <a:tc>
                  <a:txBody>
                    <a:bodyPr/>
                    <a:lstStyle/>
                    <a:p>
                      <a:pPr algn="l"/>
                      <a:r>
                        <a:rPr lang="en-US" sz="1200" b="0" i="0" dirty="0">
                          <a:solidFill>
                            <a:srgbClr val="000000"/>
                          </a:solidFill>
                          <a:latin typeface="Calibri"/>
                          <a:cs typeface="Nirmala UI"/>
                        </a:rPr>
                        <a:t>ganga hindi</a:t>
                      </a:r>
                    </a:p>
                  </a:txBody>
                  <a:tcPr marL="91440" marR="91440" marT="45720" marB="45720" anchor="ctr">
                    <a:lnL w="6350">
                      <a:solidFill>
                        <a:srgbClr val="D9B8B8"/>
                      </a:solidFill>
                    </a:lnL>
                    <a:lnR w="6350">
                      <a:solidFill>
                        <a:srgbClr val="D9B8B8"/>
                      </a:solidFill>
                    </a:lnR>
                    <a:lnT w="6350">
                      <a:solidFill>
                        <a:srgbClr val="D9B8B8"/>
                      </a:solidFill>
                    </a:lnT>
                    <a:lnB w="6350">
                      <a:solidFill>
                        <a:srgbClr val="D9B8B8"/>
                      </a:solidFill>
                    </a:lnB>
                    <a:solidFill>
                      <a:srgbClr val="FFFFFF"/>
                    </a:solidFill>
                  </a:tcPr>
                </a:tc>
                <a:tc>
                  <a:txBody>
                    <a:bodyPr/>
                    <a:lstStyle/>
                    <a:p>
                      <a:pPr algn="ctr"/>
                      <a:r>
                        <a:rPr lang="en-US" sz="1200" b="0" i="0" dirty="0">
                          <a:solidFill>
                            <a:srgbClr val="000000"/>
                          </a:solidFill>
                          <a:latin typeface="Calibri"/>
                          <a:cs typeface="Nirmala UI"/>
                        </a:rPr>
                        <a:t>1</a:t>
                      </a:r>
                    </a:p>
                  </a:txBody>
                  <a:tcPr marL="91440" marR="91440" marT="45720" marB="45720" anchor="ctr">
                    <a:lnL w="6350">
                      <a:solidFill>
                        <a:srgbClr val="D9B8B8"/>
                      </a:solidFill>
                    </a:lnL>
                    <a:lnR w="6350">
                      <a:solidFill>
                        <a:srgbClr val="D9B8B8"/>
                      </a:solidFill>
                    </a:lnR>
                    <a:lnT w="6350">
                      <a:solidFill>
                        <a:srgbClr val="D9B8B8"/>
                      </a:solidFill>
                    </a:lnT>
                    <a:lnB w="6350">
                      <a:solidFill>
                        <a:srgbClr val="D9B8B8"/>
                      </a:solidFill>
                    </a:lnB>
                    <a:solidFill>
                      <a:srgbClr val="FFFFFF"/>
                    </a:solidFill>
                  </a:tcPr>
                </a:tc>
              </a:tr>
              <a:tr h="330000">
                <a:tc>
                  <a:txBody>
                    <a:bodyPr/>
                    <a:lstStyle/>
                    <a:p>
                      <a:pPr algn="ctr"/>
                      <a:r>
                        <a:rPr lang="en-US" sz="1200" b="0" i="0" dirty="0">
                          <a:solidFill>
                            <a:srgbClr val="000000"/>
                          </a:solidFill>
                          <a:latin typeface="Calibri"/>
                          <a:cs typeface="Nirmala UI"/>
                        </a:rPr>
                        <a:t>4</a:t>
                      </a:r>
                    </a:p>
                  </a:txBody>
                  <a:tcPr marL="91440" marR="91440" marT="45720" marB="45720" anchor="ctr">
                    <a:lnL w="6350">
                      <a:solidFill>
                        <a:srgbClr val="D9B8B8"/>
                      </a:solidFill>
                    </a:lnL>
                    <a:lnR w="6350">
                      <a:solidFill>
                        <a:srgbClr val="D9B8B8"/>
                      </a:solidFill>
                    </a:lnR>
                    <a:lnT w="6350">
                      <a:solidFill>
                        <a:srgbClr val="D9B8B8"/>
                      </a:solidFill>
                    </a:lnT>
                    <a:lnB w="6350">
                      <a:solidFill>
                        <a:srgbClr val="D9B8B8"/>
                      </a:solidFill>
                    </a:lnB>
                    <a:solidFill>
                      <a:srgbClr val="FBEAEA"/>
                    </a:solidFill>
                  </a:tcPr>
                </a:tc>
                <a:tc>
                  <a:txBody>
                    <a:bodyPr/>
                    <a:lstStyle/>
                    <a:p>
                      <a:pPr algn="l"/>
                      <a:r>
                        <a:rPr lang="en-US" sz="1200" b="0" i="0" dirty="0">
                          <a:solidFill>
                            <a:srgbClr val="000000"/>
                          </a:solidFill>
                          <a:latin typeface="Calibri"/>
                          <a:cs typeface="Nirmala UI"/>
                        </a:rPr>
                        <a:t>monsoon english</a:t>
                      </a:r>
                    </a:p>
                  </a:txBody>
                  <a:tcPr marL="91440" marR="91440" marT="45720" marB="45720" anchor="ctr">
                    <a:lnL w="6350">
                      <a:solidFill>
                        <a:srgbClr val="D9B8B8"/>
                      </a:solidFill>
                    </a:lnL>
                    <a:lnR w="6350">
                      <a:solidFill>
                        <a:srgbClr val="D9B8B8"/>
                      </a:solidFill>
                    </a:lnR>
                    <a:lnT w="6350">
                      <a:solidFill>
                        <a:srgbClr val="D9B8B8"/>
                      </a:solidFill>
                    </a:lnT>
                    <a:lnB w="6350">
                      <a:solidFill>
                        <a:srgbClr val="D9B8B8"/>
                      </a:solidFill>
                    </a:lnB>
                    <a:solidFill>
                      <a:srgbClr val="FBEAEA"/>
                    </a:solidFill>
                  </a:tcPr>
                </a:tc>
                <a:tc>
                  <a:txBody>
                    <a:bodyPr/>
                    <a:lstStyle/>
                    <a:p>
                      <a:pPr algn="ctr"/>
                      <a:r>
                        <a:rPr lang="en-US" sz="1200" b="0" i="0" dirty="0">
                          <a:solidFill>
                            <a:srgbClr val="000000"/>
                          </a:solidFill>
                          <a:latin typeface="Calibri"/>
                          <a:cs typeface="Nirmala UI"/>
                        </a:rPr>
                        <a:t>1</a:t>
                      </a:r>
                    </a:p>
                  </a:txBody>
                  <a:tcPr marL="91440" marR="91440" marT="45720" marB="45720" anchor="ctr">
                    <a:lnL w="6350">
                      <a:solidFill>
                        <a:srgbClr val="D9B8B8"/>
                      </a:solidFill>
                    </a:lnL>
                    <a:lnR w="6350">
                      <a:solidFill>
                        <a:srgbClr val="D9B8B8"/>
                      </a:solidFill>
                    </a:lnR>
                    <a:lnT w="6350">
                      <a:solidFill>
                        <a:srgbClr val="D9B8B8"/>
                      </a:solidFill>
                    </a:lnT>
                    <a:lnB w="6350">
                      <a:solidFill>
                        <a:srgbClr val="D9B8B8"/>
                      </a:solidFill>
                    </a:lnB>
                    <a:solidFill>
                      <a:srgbClr val="FBEAEA"/>
                    </a:solidFill>
                  </a:tcPr>
                </a:tc>
              </a:tr>
            </a:tbl>
          </a:graphicData>
        </a:graphic>
      </p:graphicFrame>
      <p:sp>
        <p:nvSpPr>
          <p:cNvPr id="256" name="Text 256"/>
          <p:cNvSpPr txBox="1"/>
          <p:nvPr/>
        </p:nvSpPr>
        <p:spPr>
          <a:xfrm>
            <a:off x="6200000" y="5450000"/>
            <a:ext cx="5392000" cy="600000"/>
          </a:xfrm>
          <a:prstGeom prst="rect">
            <a:avLst/>
          </a:prstGeom>
          <a:noFill/>
        </p:spPr>
        <p:txBody>
          <a:bodyPr wrap="square" lIns="0" rIns="0" tIns="0" bIns="0" rtlCol="0" anchor="t">
            <a:noAutofit/>
          </a:bodyPr>
          <a:lstStyle/>
          <a:p>
            <a:pPr algn="l">
              <a:spcAft>
                <a:spcPts val="0"/>
              </a:spcAft>
              <a:buNone/>
            </a:pPr>
            <a:r>
              <a:rPr lang="en-US" sz="1100" b="0" i="1" dirty="0">
                <a:solidFill>
                  <a:srgbClr val="404040"/>
                </a:solidFill>
                <a:latin typeface="Calibri"/>
                <a:cs typeface="Nirmala UI"/>
              </a:rPr>
              <a:t>Search time is a single first query after start-up. Use the benchmark option for averaged indexed-vs-linear numbers.</a:t>
            </a:r>
          </a:p>
        </p:txBody>
      </p:sp>
    </p:spTree>
    <p:extLst>
      <p:ext uri="{BB962C8B-B14F-4D97-AF65-F5344CB8AC3E}">
        <p14:creationId xmlns:p14="http://schemas.microsoft.com/office/powerpoint/2010/main" val="1060922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654372" y="262038"/>
            <a:ext cx="6419945" cy="60395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3547840" y="302403"/>
            <a:ext cx="6871855" cy="523220"/>
          </a:xfrm>
          <a:prstGeom prst="rect">
            <a:avLst/>
          </a:prstGeom>
          <a:noFill/>
        </p:spPr>
        <p:txBody>
          <a:bodyPr wrap="square" rtlCol="0">
            <a:spAutoFit/>
          </a:bodyPr>
          <a:lstStyle/>
          <a:p>
            <a:pPr algn="ctr"/>
            <a:r>
              <a:rPr lang="en-US" sz="2800" b="1" kern="0" dirty="0">
                <a:solidFill>
                  <a:schemeClr val="bg1"/>
                </a:solidFill>
                <a:effectLst/>
                <a:ea typeface="Times New Roman" panose="02020603050405020304" pitchFamily="18" charset="0"/>
              </a:rPr>
              <a:t>Hardware and Software requirements</a:t>
            </a:r>
            <a:endParaRPr lang="en-US" sz="2800" b="1" dirty="0">
              <a:solidFill>
                <a:schemeClr val="bg1"/>
              </a:solidFill>
            </a:endParaRPr>
          </a:p>
        </p:txBody>
      </p:sp>
      <p:sp>
        <p:nvSpPr>
          <p:cNvPr id="101" name="HW SW Content"/>
          <p:cNvSpPr txBox="1"/>
          <p:nvPr/>
        </p:nvSpPr>
        <p:spPr>
          <a:xfrm>
            <a:off x="2900000" y="1000000"/>
            <a:ext cx="8500000" cy="5600000"/>
          </a:xfrm>
          <a:prstGeom prst="rect">
            <a:avLst/>
          </a:prstGeom>
          <a:noFill/>
        </p:spPr>
        <p:txBody>
          <a:bodyPr wrap="square" rtlCol="0">
            <a:normAutofit/>
          </a:bodyPr>
          <a:lstStyle/>
          <a:p>
            <a:pPr>
              <a:spcAft>
                <a:spcPts val="600"/>
              </a:spcAft>
              <a:buNone/>
            </a:pPr>
            <a:r>
              <a:rPr lang="en-US" sz="1900" b="1" dirty="0">
                <a:solidFill>
                  <a:srgbClr val="000000"/>
                </a:solidFill>
                <a:latin typeface="Calibri"/>
              </a:rPr>
              <a:t>Hardware Requirements</a:t>
            </a:r>
          </a:p>
          <a:p>
            <a:pPr marL="285750" indent="-285750">
              <a:spcAft>
                <a:spcPts val="1000"/>
              </a:spcAft>
              <a:buFont typeface="Arial"/>
              <a:buChar char="•"/>
            </a:pPr>
            <a:r>
              <a:rPr lang="en-US" sz="1650" dirty="0">
                <a:solidFill>
                  <a:srgbClr val="000000"/>
                </a:solidFill>
                <a:latin typeface="Calibri"/>
              </a:rPr>
              <a:t>Processor: Intel i5 (or equivalent) and above</a:t>
            </a:r>
          </a:p>
          <a:p>
            <a:pPr marL="285750" indent="-285750">
              <a:spcAft>
                <a:spcPts val="1000"/>
              </a:spcAft>
              <a:buFont typeface="Arial"/>
              <a:buChar char="•"/>
            </a:pPr>
            <a:r>
              <a:rPr lang="en-US" sz="1650" dirty="0">
                <a:solidFill>
                  <a:srgbClr val="000000"/>
                </a:solidFill>
                <a:latin typeface="Calibri"/>
              </a:rPr>
              <a:t>RAM: 8 GB minimum, 16 GB recommended for large corpus sizes</a:t>
            </a:r>
          </a:p>
          <a:p>
            <a:pPr marL="285750" indent="-285750">
              <a:spcAft>
                <a:spcPts val="1000"/>
              </a:spcAft>
              <a:buFont typeface="Arial"/>
              <a:buChar char="•"/>
            </a:pPr>
            <a:r>
              <a:rPr lang="en-US" sz="1650" dirty="0">
                <a:solidFill>
                  <a:srgbClr val="000000"/>
                </a:solidFill>
                <a:latin typeface="Calibri"/>
              </a:rPr>
              <a:t>Storage: 10+ GB free space for the corpus and index files</a:t>
            </a:r>
          </a:p>
          <a:p>
            <a:pPr>
              <a:spcAft>
                <a:spcPts val="600"/>
              </a:spcAft>
              <a:buNone/>
            </a:pPr>
            <a:r>
              <a:rPr lang="en-US" sz="1900" b="1" dirty="0">
                <a:solidFill>
                  <a:srgbClr val="000000"/>
                </a:solidFill>
                <a:latin typeface="Calibri"/>
              </a:rPr>
              <a:t>Software Requirements</a:t>
            </a:r>
          </a:p>
          <a:p>
            <a:pPr marL="285750" indent="-285750">
              <a:spcAft>
                <a:spcPts val="1000"/>
              </a:spcAft>
              <a:buFont typeface="Arial"/>
              <a:buChar char="•"/>
            </a:pPr>
            <a:r>
              <a:rPr lang="en-US" sz="1650" dirty="0">
                <a:solidFill>
                  <a:srgbClr val="000000"/>
                </a:solidFill>
                <a:latin typeface="Calibri"/>
              </a:rPr>
              <a:t>Operating System: Windows 10/11, Linux or macOS</a:t>
            </a:r>
          </a:p>
          <a:p>
            <a:pPr marL="285750" indent="-285750">
              <a:spcAft>
                <a:spcPts val="1000"/>
              </a:spcAft>
              <a:buFont typeface="Arial"/>
              <a:buChar char="•"/>
            </a:pPr>
            <a:r>
              <a:rPr lang="en-US" sz="1650" dirty="0">
                <a:solidFill>
                  <a:srgbClr val="000000"/>
                </a:solidFill>
                <a:latin typeface="Calibri"/>
              </a:rPr>
              <a:t>Programming Language: Java (JDK 11 or later); HTML + JavaScript for the web interface</a:t>
            </a:r>
          </a:p>
          <a:p>
            <a:pPr marL="285750" indent="-285750">
              <a:spcAft>
                <a:spcPts val="1000"/>
              </a:spcAft>
              <a:buFont typeface="Arial"/>
              <a:buChar char="•"/>
            </a:pPr>
            <a:r>
              <a:rPr lang="en-US" sz="1650" dirty="0">
                <a:solidFill>
                  <a:srgbClr val="000000"/>
                </a:solidFill>
                <a:latin typeface="Calibri"/>
              </a:rPr>
              <a:t>IDE: VS Code with Extension Pack for Java (or any Java IDE)</a:t>
            </a:r>
          </a:p>
          <a:p>
            <a:pPr marL="285750" indent="-285750">
              <a:spcAft>
                <a:spcPts val="1000"/>
              </a:spcAft>
              <a:buFont typeface="Arial"/>
              <a:buChar char="•"/>
            </a:pPr>
            <a:r>
              <a:rPr lang="en-US" sz="1650" dirty="0">
                <a:solidFill>
                  <a:srgbClr val="000000"/>
                </a:solidFill>
                <a:latin typeface="Calibri"/>
              </a:rPr>
              <a:t>Libraries: Java standard library only (Normalizer, regex, file I/O, collections)</a:t>
            </a:r>
          </a:p>
          <a:p>
            <a:pPr marL="285750" indent="-285750">
              <a:spcAft>
                <a:spcPts val="1000"/>
              </a:spcAft>
              <a:buFont typeface="Arial"/>
              <a:buChar char="•"/>
            </a:pPr>
            <a:r>
              <a:rPr lang="en-US" sz="1650" dirty="0">
                <a:solidFill>
                  <a:srgbClr val="000000"/>
                </a:solidFill>
                <a:latin typeface="Calibri"/>
              </a:rPr>
              <a:t>Dataset: sample corpus of 10 UTF-8 articles in 5 languages; scalable to Wikipedia dumps</a:t>
            </a:r>
          </a:p>
        </p:txBody>
      </p:sp>
    </p:spTree>
    <p:extLst>
      <p:ext uri="{BB962C8B-B14F-4D97-AF65-F5344CB8AC3E}">
        <p14:creationId xmlns:p14="http://schemas.microsoft.com/office/powerpoint/2010/main" val="22927509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87903"/>
            <a:ext cx="6871855" cy="584775"/>
          </a:xfrm>
          <a:prstGeom prst="rect">
            <a:avLst/>
          </a:prstGeom>
          <a:noFill/>
        </p:spPr>
        <p:txBody>
          <a:bodyPr wrap="square" rtlCol="0">
            <a:spAutoFit/>
          </a:bodyPr>
          <a:lstStyle/>
          <a:p>
            <a:pPr algn="ctr"/>
            <a:r>
              <a:rPr lang="en-US" sz="3200" b="1" dirty="0">
                <a:solidFill>
                  <a:schemeClr val="bg1"/>
                </a:solidFill>
              </a:rPr>
              <a:t>Conclusion</a:t>
            </a:r>
          </a:p>
        </p:txBody>
      </p:sp>
      <p:sp>
        <p:nvSpPr>
          <p:cNvPr id="101" name="Conclusion Content"/>
          <p:cNvSpPr txBox="1"/>
          <p:nvPr/>
        </p:nvSpPr>
        <p:spPr>
          <a:xfrm>
            <a:off x="2900000" y="1000000"/>
            <a:ext cx="8500000" cy="5600000"/>
          </a:xfrm>
          <a:prstGeom prst="rect">
            <a:avLst/>
          </a:prstGeom>
          <a:noFill/>
        </p:spPr>
        <p:txBody>
          <a:bodyPr wrap="square" rtlCol="0">
            <a:normAutofit/>
          </a:bodyPr>
          <a:lstStyle/>
          <a:p>
            <a:pPr>
              <a:spcAft>
                <a:spcPts val="0"/>
              </a:spcAft>
              <a:buNone/>
            </a:pPr>
            <a:r>
              <a:rPr lang="en-US" sz="1800" dirty="0">
                <a:solidFill>
                  <a:srgbClr val="000000"/>
                </a:solidFill>
                <a:latin typeface="Calibri"/>
              </a:rPr>
              <a:t>This project successfully demonstrates how core data structures and algorithms — hashing, inverted indexing and efficient search techniques — can be applied to build a fast and scalable keyword search engine for large Indian-language Wikipedia corpora. By preprocessing the corpus once and building an index, the system avoids repeated, costly scans and answers single- and multi-keyword queries quickly, returning documents ranked by relevance. The solution correctly handles Unicode text across Indian scripts and is designed to scale as the corpus grows, showing a practical, real-world use of DSA concepts in text analytics. The Java implementation and its browser front end were tested on a five-language sample corpus and returned ranked results in a few milliseconds.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2660072" y="154134"/>
            <a:ext cx="6871855" cy="584775"/>
          </a:xfrm>
          <a:prstGeom prst="rect">
            <a:avLst/>
          </a:prstGeom>
          <a:noFill/>
        </p:spPr>
        <p:txBody>
          <a:bodyPr wrap="square" rtlCol="0">
            <a:spAutoFit/>
          </a:bodyPr>
          <a:lstStyle/>
          <a:p>
            <a:pPr algn="ctr"/>
            <a:r>
              <a:rPr lang="en-US" sz="3200" b="1" dirty="0">
                <a:solidFill>
                  <a:schemeClr val="bg1"/>
                </a:solidFill>
              </a:rPr>
              <a:t> Future Scope</a:t>
            </a:r>
          </a:p>
        </p:txBody>
      </p:sp>
      <p:sp>
        <p:nvSpPr>
          <p:cNvPr id="101" name="Future Scope Content"/>
          <p:cNvSpPr txBox="1"/>
          <p:nvPr/>
        </p:nvSpPr>
        <p:spPr>
          <a:xfrm>
            <a:off x="2900000" y="1000000"/>
            <a:ext cx="8500000" cy="5600000"/>
          </a:xfrm>
          <a:prstGeom prst="rect">
            <a:avLst/>
          </a:prstGeom>
          <a:noFill/>
        </p:spPr>
        <p:txBody>
          <a:bodyPr wrap="square" rtlCol="0">
            <a:normAutofit/>
          </a:bodyPr>
          <a:lstStyle/>
          <a:p>
            <a:pPr marL="285750" indent="-285750">
              <a:spcAft>
                <a:spcPts val="1000"/>
              </a:spcAft>
              <a:buFont typeface="Arial"/>
              <a:buChar char="•"/>
            </a:pPr>
            <a:r>
              <a:rPr lang="en-US" sz="1700" dirty="0">
                <a:solidFill>
                  <a:srgbClr val="000000"/>
                </a:solidFill>
                <a:latin typeface="Calibri"/>
              </a:rPr>
              <a:t>Extend ranking using TF-IDF or BM25 for more accurate relevance scoring instead of raw frequency.</a:t>
            </a:r>
          </a:p>
          <a:p>
            <a:pPr marL="285750" indent="-285750">
              <a:spcAft>
                <a:spcPts val="1000"/>
              </a:spcAft>
              <a:buFont typeface="Arial"/>
              <a:buChar char="•"/>
            </a:pPr>
            <a:r>
              <a:rPr lang="en-US" sz="1700" dirty="0">
                <a:solidFill>
                  <a:srgbClr val="000000"/>
                </a:solidFill>
                <a:latin typeface="Calibri"/>
              </a:rPr>
              <a:t>Add fuzzy search and spelling correction to handle typos in Indian-language input.</a:t>
            </a:r>
          </a:p>
          <a:p>
            <a:pPr marL="285750" indent="-285750">
              <a:spcAft>
                <a:spcPts val="1000"/>
              </a:spcAft>
              <a:buFont typeface="Arial"/>
              <a:buChar char="•"/>
            </a:pPr>
            <a:r>
              <a:rPr lang="en-US" sz="1700" dirty="0">
                <a:solidFill>
                  <a:srgbClr val="000000"/>
                </a:solidFill>
                <a:latin typeface="Calibri"/>
              </a:rPr>
              <a:t>Support phrase search and boolean operators (AND, OR, NOT) for more advanced queries.</a:t>
            </a:r>
          </a:p>
          <a:p>
            <a:pPr marL="285750" indent="-285750">
              <a:spcAft>
                <a:spcPts val="1000"/>
              </a:spcAft>
              <a:buFont typeface="Arial"/>
              <a:buChar char="•"/>
            </a:pPr>
            <a:r>
              <a:rPr lang="en-US" sz="1700" dirty="0">
                <a:solidFill>
                  <a:srgbClr val="000000"/>
                </a:solidFill>
                <a:latin typeface="Calibri"/>
              </a:rPr>
              <a:t>Extend the web interface prototype with autocomplete, pagination and a result preview.</a:t>
            </a:r>
          </a:p>
          <a:p>
            <a:pPr marL="285750" indent="-285750">
              <a:spcAft>
                <a:spcPts val="1000"/>
              </a:spcAft>
              <a:buFont typeface="Arial"/>
              <a:buChar char="•"/>
            </a:pPr>
            <a:r>
              <a:rPr lang="en-US" sz="1700" dirty="0">
                <a:solidFill>
                  <a:srgbClr val="000000"/>
                </a:solidFill>
                <a:latin typeface="Calibri"/>
              </a:rPr>
              <a:t>Extend the corpus to cover more Indian languages and keep the index updated with new Wikipedia dumps.</a:t>
            </a:r>
          </a:p>
          <a:p>
            <a:pPr marL="285750" indent="-285750">
              <a:spcAft>
                <a:spcPts val="1000"/>
              </a:spcAft>
              <a:buFont typeface="Arial"/>
              <a:buChar char="•"/>
            </a:pPr>
            <a:r>
              <a:rPr lang="en-US" sz="1700" dirty="0">
                <a:solidFill>
                  <a:srgbClr val="000000"/>
                </a:solidFill>
                <a:latin typeface="Calibri"/>
              </a:rPr>
              <a:t>Explore distributed / parallel indexing to handle even larger datasets.</a:t>
            </a:r>
          </a:p>
          <a:p>
            <a:pPr marL="285750" indent="-285750">
              <a:spcAft>
                <a:spcPts val="1000"/>
              </a:spcAft>
              <a:buFont typeface="Arial"/>
              <a:buChar char="•"/>
            </a:pPr>
            <a:r>
              <a:rPr lang="en-US" sz="1700" dirty="0">
                <a:solidFill>
                  <a:srgbClr val="000000"/>
                </a:solidFill>
                <a:latin typeface="Calibri"/>
              </a:rPr>
              <a:t>Replace library collections with hand-built hash tables and lists to show the data structures from first principles.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7" y="2619376"/>
            <a:ext cx="4946253" cy="135782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smtClean="0"/>
              <a:t>Thank you</a:t>
            </a:r>
            <a:endParaRPr lang="en-US" sz="3200" b="1" dirty="0"/>
          </a:p>
        </p:txBody>
      </p:sp>
    </p:spTree>
    <p:extLst>
      <p:ext uri="{BB962C8B-B14F-4D97-AF65-F5344CB8AC3E}">
        <p14:creationId xmlns:p14="http://schemas.microsoft.com/office/powerpoint/2010/main" val="13135434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2660072" y="221673"/>
            <a:ext cx="6871855"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kern="0" dirty="0">
                <a:solidFill>
                  <a:schemeClr val="bg1"/>
                </a:solidFill>
                <a:effectLst/>
                <a:ea typeface="Times New Roman" panose="02020603050405020304" pitchFamily="18" charset="0"/>
              </a:rPr>
              <a:t>System Architecture &amp; Modules</a:t>
            </a:r>
            <a:endParaRPr lang="en-US" sz="3200" b="1" dirty="0">
              <a:solidFill>
                <a:schemeClr val="bg1"/>
              </a:solidFill>
            </a:endParaRPr>
          </a:p>
        </p:txBody>
      </p:sp>
      <p:sp>
        <p:nvSpPr>
          <p:cNvPr id="230" name="Text 230"/>
          <p:cNvSpPr txBox="1"/>
          <p:nvPr/>
        </p:nvSpPr>
        <p:spPr>
          <a:xfrm>
            <a:off x="600000" y="1000000"/>
            <a:ext cx="6000000" cy="300000"/>
          </a:xfrm>
          <a:prstGeom prst="rect">
            <a:avLst/>
          </a:prstGeom>
          <a:noFill/>
        </p:spPr>
        <p:txBody>
          <a:bodyPr wrap="square" lIns="0" rIns="0" tIns="0" bIns="0" rtlCol="0" anchor="t">
            <a:noAutofit/>
          </a:bodyPr>
          <a:lstStyle/>
          <a:p>
            <a:pPr algn="l">
              <a:spcAft>
                <a:spcPts val="0"/>
              </a:spcAft>
              <a:buNone/>
            </a:pPr>
            <a:r>
              <a:rPr lang="en-US" sz="1600" b="1" i="0" dirty="0">
                <a:solidFill>
                  <a:srgbClr val="C00000"/>
                </a:solidFill>
                <a:latin typeface="Calibri"/>
                <a:cs typeface="Nirmala UI"/>
              </a:rPr>
              <a:t>Java modules</a:t>
            </a:r>
          </a:p>
        </p:txBody>
      </p:sp>
      <p:sp>
        <p:nvSpPr>
          <p:cNvPr id="231" name="Module 231"/>
          <p:cNvSpPr/>
          <p:nvPr/>
        </p:nvSpPr>
        <p:spPr>
          <a:xfrm>
            <a:off x="600000" y="1400000"/>
            <a:ext cx="2350000" cy="880000"/>
          </a:xfrm>
          <a:prstGeom prst="roundRect">
            <a:avLst/>
          </a:prstGeom>
          <a:solidFill>
            <a:srgbClr val="C00000"/>
          </a:solidFill>
          <a:ln>
            <a:noFill/>
          </a:ln>
        </p:spPr>
        <p:txBody>
          <a:bodyPr wrap="square" lIns="91440" rIns="91440" tIns="45720" bIns="45720" rtlCol="0" anchor="ctr">
            <a:noAutofit/>
          </a:bodyPr>
          <a:lstStyle/>
          <a:p>
            <a:pPr algn="ctr">
              <a:spcAft>
                <a:spcPts val="0"/>
              </a:spcAft>
              <a:buNone/>
            </a:pPr>
            <a:r>
              <a:rPr lang="en-US" sz="1250" b="1" i="0" dirty="0">
                <a:solidFill>
                  <a:srgbClr val="FFFFFF"/>
                </a:solidFill>
                <a:latin typeface="Calibri"/>
                <a:cs typeface="Nirmala UI"/>
              </a:rPr>
              <a:t>Main.java</a:t>
            </a:r>
          </a:p>
        </p:txBody>
      </p:sp>
      <p:sp>
        <p:nvSpPr>
          <p:cNvPr id="232" name="ModuleDesc 232"/>
          <p:cNvSpPr/>
          <p:nvPr/>
        </p:nvSpPr>
        <p:spPr>
          <a:xfrm>
            <a:off x="3000000" y="1400000"/>
            <a:ext cx="3600000" cy="880000"/>
          </a:xfrm>
          <a:prstGeom prst="roundRect">
            <a:avLst/>
          </a:prstGeom>
          <a:solidFill>
            <a:srgbClr val="FFFFFF"/>
          </a:solidFill>
          <a:ln w="9525">
            <a:solidFill>
              <a:srgbClr val="C00000"/>
            </a:solidFill>
          </a:ln>
        </p:spPr>
        <p:txBody>
          <a:bodyPr wrap="square" lIns="109728" rIns="109728" tIns="45720" bIns="45720" rtlCol="0" anchor="ctr">
            <a:noAutofit/>
          </a:bodyPr>
          <a:lstStyle/>
          <a:p>
            <a:pPr algn="l">
              <a:spcAft>
                <a:spcPts val="0"/>
              </a:spcAft>
              <a:buNone/>
            </a:pPr>
            <a:r>
              <a:rPr lang="en-US" sz="1200" b="0" i="0" dirty="0">
                <a:solidFill>
                  <a:srgbClr val="000000"/>
                </a:solidFill>
                <a:latin typeface="Calibri"/>
                <a:cs typeface="Nirmala UI"/>
              </a:rPr>
              <a:t>Console menu: loads the corpus, builds the index, runs search, benchmark and stats</a:t>
            </a:r>
          </a:p>
        </p:txBody>
      </p:sp>
      <p:sp>
        <p:nvSpPr>
          <p:cNvPr id="233" name="Module 233"/>
          <p:cNvSpPr/>
          <p:nvPr/>
        </p:nvSpPr>
        <p:spPr>
          <a:xfrm>
            <a:off x="600000" y="2380000"/>
            <a:ext cx="2350000" cy="880000"/>
          </a:xfrm>
          <a:prstGeom prst="roundRect">
            <a:avLst/>
          </a:prstGeom>
          <a:solidFill>
            <a:srgbClr val="C00000"/>
          </a:solidFill>
          <a:ln>
            <a:noFill/>
          </a:ln>
        </p:spPr>
        <p:txBody>
          <a:bodyPr wrap="square" lIns="91440" rIns="91440" tIns="45720" bIns="45720" rtlCol="0" anchor="ctr">
            <a:noAutofit/>
          </a:bodyPr>
          <a:lstStyle/>
          <a:p>
            <a:pPr algn="ctr">
              <a:spcAft>
                <a:spcPts val="0"/>
              </a:spcAft>
              <a:buNone/>
            </a:pPr>
            <a:r>
              <a:rPr lang="en-US" sz="1250" b="1" i="0" dirty="0">
                <a:solidFill>
                  <a:srgbClr val="FFFFFF"/>
                </a:solidFill>
                <a:latin typeface="Calibri"/>
                <a:cs typeface="Nirmala UI"/>
              </a:rPr>
              <a:t>Document.java</a:t>
            </a:r>
          </a:p>
        </p:txBody>
      </p:sp>
      <p:sp>
        <p:nvSpPr>
          <p:cNvPr id="234" name="ModuleDesc 234"/>
          <p:cNvSpPr/>
          <p:nvPr/>
        </p:nvSpPr>
        <p:spPr>
          <a:xfrm>
            <a:off x="3000000" y="2380000"/>
            <a:ext cx="3600000" cy="880000"/>
          </a:xfrm>
          <a:prstGeom prst="roundRect">
            <a:avLst/>
          </a:prstGeom>
          <a:solidFill>
            <a:srgbClr val="FFFFFF"/>
          </a:solidFill>
          <a:ln w="9525">
            <a:solidFill>
              <a:srgbClr val="C00000"/>
            </a:solidFill>
          </a:ln>
        </p:spPr>
        <p:txBody>
          <a:bodyPr wrap="square" lIns="109728" rIns="109728" tIns="45720" bIns="45720" rtlCol="0" anchor="ctr">
            <a:noAutofit/>
          </a:bodyPr>
          <a:lstStyle/>
          <a:p>
            <a:pPr algn="l">
              <a:spcAft>
                <a:spcPts val="0"/>
              </a:spcAft>
              <a:buNone/>
            </a:pPr>
            <a:r>
              <a:rPr lang="en-US" sz="1200" b="0" i="0" dirty="0">
                <a:solidFill>
                  <a:srgbClr val="000000"/>
                </a:solidFill>
                <a:latin typeface="Calibri"/>
                <a:cs typeface="Nirmala UI"/>
              </a:rPr>
              <a:t>Model of one article: id, title and content</a:t>
            </a:r>
          </a:p>
        </p:txBody>
      </p:sp>
      <p:sp>
        <p:nvSpPr>
          <p:cNvPr id="235" name="Module 235"/>
          <p:cNvSpPr/>
          <p:nvPr/>
        </p:nvSpPr>
        <p:spPr>
          <a:xfrm>
            <a:off x="600000" y="3360000"/>
            <a:ext cx="2350000" cy="880000"/>
          </a:xfrm>
          <a:prstGeom prst="roundRect">
            <a:avLst/>
          </a:prstGeom>
          <a:solidFill>
            <a:srgbClr val="C00000"/>
          </a:solidFill>
          <a:ln>
            <a:noFill/>
          </a:ln>
        </p:spPr>
        <p:txBody>
          <a:bodyPr wrap="square" lIns="91440" rIns="91440" tIns="45720" bIns="45720" rtlCol="0" anchor="ctr">
            <a:noAutofit/>
          </a:bodyPr>
          <a:lstStyle/>
          <a:p>
            <a:pPr algn="ctr">
              <a:spcAft>
                <a:spcPts val="0"/>
              </a:spcAft>
              <a:buNone/>
            </a:pPr>
            <a:r>
              <a:rPr lang="en-US" sz="1250" b="1" i="0" dirty="0">
                <a:solidFill>
                  <a:srgbClr val="FFFFFF"/>
                </a:solidFill>
                <a:latin typeface="Calibri"/>
                <a:cs typeface="Nirmala UI"/>
              </a:rPr>
              <a:t>TextPreprocessor.java</a:t>
            </a:r>
          </a:p>
        </p:txBody>
      </p:sp>
      <p:sp>
        <p:nvSpPr>
          <p:cNvPr id="236" name="ModuleDesc 236"/>
          <p:cNvSpPr/>
          <p:nvPr/>
        </p:nvSpPr>
        <p:spPr>
          <a:xfrm>
            <a:off x="3000000" y="3360000"/>
            <a:ext cx="3600000" cy="880000"/>
          </a:xfrm>
          <a:prstGeom prst="roundRect">
            <a:avLst/>
          </a:prstGeom>
          <a:solidFill>
            <a:srgbClr val="FFFFFF"/>
          </a:solidFill>
          <a:ln w="9525">
            <a:solidFill>
              <a:srgbClr val="C00000"/>
            </a:solidFill>
          </a:ln>
        </p:spPr>
        <p:txBody>
          <a:bodyPr wrap="square" lIns="109728" rIns="109728" tIns="45720" bIns="45720" rtlCol="0" anchor="ctr">
            <a:noAutofit/>
          </a:bodyPr>
          <a:lstStyle/>
          <a:p>
            <a:pPr algn="l">
              <a:spcAft>
                <a:spcPts val="0"/>
              </a:spcAft>
              <a:buNone/>
            </a:pPr>
            <a:r>
              <a:rPr lang="en-US" sz="1200" b="0" i="0" dirty="0">
                <a:solidFill>
                  <a:srgbClr val="000000"/>
                </a:solidFill>
                <a:latin typeface="Calibri"/>
                <a:cs typeface="Nirmala UI"/>
              </a:rPr>
              <a:t>Unicode NFC normalisation, letter/matra tokenizer, stop-word filter</a:t>
            </a:r>
          </a:p>
        </p:txBody>
      </p:sp>
      <p:sp>
        <p:nvSpPr>
          <p:cNvPr id="237" name="Module 237"/>
          <p:cNvSpPr/>
          <p:nvPr/>
        </p:nvSpPr>
        <p:spPr>
          <a:xfrm>
            <a:off x="600000" y="4340000"/>
            <a:ext cx="2350000" cy="880000"/>
          </a:xfrm>
          <a:prstGeom prst="roundRect">
            <a:avLst/>
          </a:prstGeom>
          <a:solidFill>
            <a:srgbClr val="C00000"/>
          </a:solidFill>
          <a:ln>
            <a:noFill/>
          </a:ln>
        </p:spPr>
        <p:txBody>
          <a:bodyPr wrap="square" lIns="91440" rIns="91440" tIns="45720" bIns="45720" rtlCol="0" anchor="ctr">
            <a:noAutofit/>
          </a:bodyPr>
          <a:lstStyle/>
          <a:p>
            <a:pPr algn="ctr">
              <a:spcAft>
                <a:spcPts val="0"/>
              </a:spcAft>
              <a:buNone/>
            </a:pPr>
            <a:r>
              <a:rPr lang="en-US" sz="1250" b="1" i="0" dirty="0">
                <a:solidFill>
                  <a:srgbClr val="FFFFFF"/>
                </a:solidFill>
                <a:latin typeface="Calibri"/>
                <a:cs typeface="Nirmala UI"/>
              </a:rPr>
              <a:t>InvertedIndex.java</a:t>
            </a:r>
          </a:p>
        </p:txBody>
      </p:sp>
      <p:sp>
        <p:nvSpPr>
          <p:cNvPr id="238" name="ModuleDesc 238"/>
          <p:cNvSpPr/>
          <p:nvPr/>
        </p:nvSpPr>
        <p:spPr>
          <a:xfrm>
            <a:off x="3000000" y="4340000"/>
            <a:ext cx="3600000" cy="880000"/>
          </a:xfrm>
          <a:prstGeom prst="roundRect">
            <a:avLst/>
          </a:prstGeom>
          <a:solidFill>
            <a:srgbClr val="FFFFFF"/>
          </a:solidFill>
          <a:ln w="9525">
            <a:solidFill>
              <a:srgbClr val="C00000"/>
            </a:solidFill>
          </a:ln>
        </p:spPr>
        <p:txBody>
          <a:bodyPr wrap="square" lIns="109728" rIns="109728" tIns="45720" bIns="45720" rtlCol="0" anchor="ctr">
            <a:noAutofit/>
          </a:bodyPr>
          <a:lstStyle/>
          <a:p>
            <a:pPr algn="l">
              <a:spcAft>
                <a:spcPts val="0"/>
              </a:spcAft>
              <a:buNone/>
            </a:pPr>
            <a:r>
              <a:rPr lang="en-US" sz="1200" b="0" i="0" dirty="0">
                <a:solidFill>
                  <a:srgbClr val="000000"/>
                </a:solidFill>
                <a:latin typeface="Calibri"/>
                <a:cs typeface="Nirmala UI"/>
              </a:rPr>
              <a:t>Hash map term → (docId → frequency) with add, build and getPostings</a:t>
            </a:r>
          </a:p>
        </p:txBody>
      </p:sp>
      <p:sp>
        <p:nvSpPr>
          <p:cNvPr id="239" name="Module 239"/>
          <p:cNvSpPr/>
          <p:nvPr/>
        </p:nvSpPr>
        <p:spPr>
          <a:xfrm>
            <a:off x="600000" y="5320000"/>
            <a:ext cx="2350000" cy="880000"/>
          </a:xfrm>
          <a:prstGeom prst="roundRect">
            <a:avLst/>
          </a:prstGeom>
          <a:solidFill>
            <a:srgbClr val="C00000"/>
          </a:solidFill>
          <a:ln>
            <a:noFill/>
          </a:ln>
        </p:spPr>
        <p:txBody>
          <a:bodyPr wrap="square" lIns="91440" rIns="91440" tIns="45720" bIns="45720" rtlCol="0" anchor="ctr">
            <a:noAutofit/>
          </a:bodyPr>
          <a:lstStyle/>
          <a:p>
            <a:pPr algn="ctr">
              <a:spcAft>
                <a:spcPts val="0"/>
              </a:spcAft>
              <a:buNone/>
            </a:pPr>
            <a:r>
              <a:rPr lang="en-US" sz="1250" b="1" i="0" dirty="0">
                <a:solidFill>
                  <a:srgbClr val="FFFFFF"/>
                </a:solidFill>
                <a:latin typeface="Calibri"/>
                <a:cs typeface="Nirmala UI"/>
              </a:rPr>
              <a:t>SearchEngine.java</a:t>
            </a:r>
          </a:p>
        </p:txBody>
      </p:sp>
      <p:sp>
        <p:nvSpPr>
          <p:cNvPr id="240" name="ModuleDesc 240"/>
          <p:cNvSpPr/>
          <p:nvPr/>
        </p:nvSpPr>
        <p:spPr>
          <a:xfrm>
            <a:off x="3000000" y="5320000"/>
            <a:ext cx="3600000" cy="880000"/>
          </a:xfrm>
          <a:prstGeom prst="roundRect">
            <a:avLst/>
          </a:prstGeom>
          <a:solidFill>
            <a:srgbClr val="FFFFFF"/>
          </a:solidFill>
          <a:ln w="9525">
            <a:solidFill>
              <a:srgbClr val="C00000"/>
            </a:solidFill>
          </a:ln>
        </p:spPr>
        <p:txBody>
          <a:bodyPr wrap="square" lIns="109728" rIns="109728" tIns="45720" bIns="45720" rtlCol="0" anchor="ctr">
            <a:noAutofit/>
          </a:bodyPr>
          <a:lstStyle/>
          <a:p>
            <a:pPr algn="l">
              <a:spcAft>
                <a:spcPts val="0"/>
              </a:spcAft>
              <a:buNone/>
            </a:pPr>
            <a:r>
              <a:rPr lang="en-US" sz="1200" b="0" i="0" dirty="0">
                <a:solidFill>
                  <a:srgbClr val="000000"/>
                </a:solidFill>
                <a:latin typeface="Calibri"/>
                <a:cs typeface="Nirmala UI"/>
              </a:rPr>
              <a:t>Indexed search (ANY / ALL, TF ranking) plus a linear-scan baseline</a:t>
            </a:r>
          </a:p>
        </p:txBody>
      </p:sp>
      <p:sp>
        <p:nvSpPr>
          <p:cNvPr id="241" name="Text 241"/>
          <p:cNvSpPr txBox="1"/>
          <p:nvPr/>
        </p:nvSpPr>
        <p:spPr>
          <a:xfrm>
            <a:off x="6900000" y="1000000"/>
            <a:ext cx="4692000" cy="300000"/>
          </a:xfrm>
          <a:prstGeom prst="rect">
            <a:avLst/>
          </a:prstGeom>
          <a:noFill/>
        </p:spPr>
        <p:txBody>
          <a:bodyPr wrap="square" lIns="0" rIns="0" tIns="0" bIns="0" rtlCol="0" anchor="t">
            <a:noAutofit/>
          </a:bodyPr>
          <a:lstStyle/>
          <a:p>
            <a:pPr algn="l">
              <a:spcAft>
                <a:spcPts val="0"/>
              </a:spcAft>
              <a:buNone/>
            </a:pPr>
            <a:r>
              <a:rPr lang="en-US" sz="1600" b="1" i="0" dirty="0">
                <a:solidFill>
                  <a:srgbClr val="C00000"/>
                </a:solidFill>
                <a:latin typeface="Calibri"/>
                <a:cs typeface="Nirmala UI"/>
              </a:rPr>
              <a:t>Inverted index built from the sample corpus</a:t>
            </a:r>
          </a:p>
        </p:txBody>
      </p:sp>
      <p:graphicFrame>
        <p:nvGraphicFramePr>
          <p:cNvPr id="242" name="IndexTable 242"/>
          <p:cNvGraphicFramePr>
            <a:graphicFrameLocks noGrp="1"/>
          </p:cNvGraphicFramePr>
          <p:nvPr/>
        </p:nvGraphicFramePr>
        <p:xfrm>
          <a:off x="6900000" y="1400000"/>
          <a:ext cx="4692000" cy="2100000"/>
        </p:xfrm>
        <a:graphic>
          <a:graphicData uri="http://schemas.openxmlformats.org/drawingml/2006/table">
            <a:tbl>
              <a:tblPr firstRow="1"/>
              <a:tblGrid>
                <a:gridCol w="1250000"/>
                <a:gridCol w="3442000"/>
              </a:tblGrid>
              <a:tr h="420000">
                <a:tc>
                  <a:txBody>
                    <a:bodyPr/>
                    <a:lstStyle/>
                    <a:p>
                      <a:pPr algn="l"/>
                      <a:r>
                        <a:rPr lang="en-US" sz="1200" b="1" i="0" dirty="0">
                          <a:solidFill>
                            <a:srgbClr val="FFFFFF"/>
                          </a:solidFill>
                          <a:latin typeface="Calibri"/>
                          <a:cs typeface="Nirmala UI"/>
                        </a:rPr>
                        <a:t>Term</a:t>
                      </a:r>
                    </a:p>
                  </a:txBody>
                  <a:tcPr marL="91440" marR="91440" marT="45720" marB="45720" anchor="ctr">
                    <a:lnL w="6350">
                      <a:solidFill>
                        <a:srgbClr val="D9B8B8"/>
                      </a:solidFill>
                    </a:lnL>
                    <a:lnR w="6350">
                      <a:solidFill>
                        <a:srgbClr val="D9B8B8"/>
                      </a:solidFill>
                    </a:lnR>
                    <a:lnT w="6350">
                      <a:solidFill>
                        <a:srgbClr val="D9B8B8"/>
                      </a:solidFill>
                    </a:lnT>
                    <a:lnB w="6350">
                      <a:solidFill>
                        <a:srgbClr val="D9B8B8"/>
                      </a:solidFill>
                    </a:lnB>
                    <a:solidFill>
                      <a:srgbClr val="C00000"/>
                    </a:solidFill>
                  </a:tcPr>
                </a:tc>
                <a:tc>
                  <a:txBody>
                    <a:bodyPr/>
                    <a:lstStyle/>
                    <a:p>
                      <a:pPr algn="l"/>
                      <a:r>
                        <a:rPr lang="en-US" sz="1200" b="1" i="0" dirty="0">
                          <a:solidFill>
                            <a:srgbClr val="FFFFFF"/>
                          </a:solidFill>
                          <a:latin typeface="Calibri"/>
                          <a:cs typeface="Nirmala UI"/>
                        </a:rPr>
                        <a:t>Postings (document × frequency)</a:t>
                      </a:r>
                    </a:p>
                  </a:txBody>
                  <a:tcPr marL="91440" marR="91440" marT="45720" marB="45720" anchor="ctr">
                    <a:lnL w="6350">
                      <a:solidFill>
                        <a:srgbClr val="D9B8B8"/>
                      </a:solidFill>
                    </a:lnL>
                    <a:lnR w="6350">
                      <a:solidFill>
                        <a:srgbClr val="D9B8B8"/>
                      </a:solidFill>
                    </a:lnR>
                    <a:lnT w="6350">
                      <a:solidFill>
                        <a:srgbClr val="D9B8B8"/>
                      </a:solidFill>
                    </a:lnT>
                    <a:lnB w="6350">
                      <a:solidFill>
                        <a:srgbClr val="D9B8B8"/>
                      </a:solidFill>
                    </a:lnB>
                    <a:solidFill>
                      <a:srgbClr val="C00000"/>
                    </a:solidFill>
                  </a:tcPr>
                </a:tc>
              </a:tr>
              <a:tr h="420000">
                <a:tc>
                  <a:txBody>
                    <a:bodyPr/>
                    <a:lstStyle/>
                    <a:p>
                      <a:pPr algn="l"/>
                      <a:r>
                        <a:rPr lang="en-US" sz="1200" b="1" i="0" dirty="0">
                          <a:solidFill>
                            <a:srgbClr val="000000"/>
                          </a:solidFill>
                          <a:latin typeface="Calibri"/>
                          <a:cs typeface="Nirmala UI"/>
                        </a:rPr>
                        <a:t>ganga</a:t>
                      </a:r>
                    </a:p>
                  </a:txBody>
                  <a:tcPr marL="91440" marR="91440" marT="45720" marB="45720" anchor="ctr">
                    <a:lnL w="6350">
                      <a:solidFill>
                        <a:srgbClr val="D9B8B8"/>
                      </a:solidFill>
                    </a:lnL>
                    <a:lnR w="6350">
                      <a:solidFill>
                        <a:srgbClr val="D9B8B8"/>
                      </a:solidFill>
                    </a:lnR>
                    <a:lnT w="6350">
                      <a:solidFill>
                        <a:srgbClr val="D9B8B8"/>
                      </a:solidFill>
                    </a:lnT>
                    <a:lnB w="6350">
                      <a:solidFill>
                        <a:srgbClr val="D9B8B8"/>
                      </a:solidFill>
                    </a:lnB>
                    <a:solidFill>
                      <a:srgbClr val="FFFFFF"/>
                    </a:solidFill>
                  </a:tcPr>
                </a:tc>
                <a:tc>
                  <a:txBody>
                    <a:bodyPr/>
                    <a:lstStyle/>
                    <a:p>
                      <a:pPr algn="l"/>
                      <a:r>
                        <a:rPr lang="en-US" sz="1200" b="0" i="0" dirty="0">
                          <a:solidFill>
                            <a:srgbClr val="000000"/>
                          </a:solidFill>
                          <a:latin typeface="Calibri"/>
                          <a:cs typeface="Nirmala UI"/>
                        </a:rPr>
                        <a:t>doc 1 ×2, doc 4 ×1, doc 5 ×1, doc 10 ×1</a:t>
                      </a:r>
                    </a:p>
                  </a:txBody>
                  <a:tcPr marL="91440" marR="91440" marT="45720" marB="45720" anchor="ctr">
                    <a:lnL w="6350">
                      <a:solidFill>
                        <a:srgbClr val="D9B8B8"/>
                      </a:solidFill>
                    </a:lnL>
                    <a:lnR w="6350">
                      <a:solidFill>
                        <a:srgbClr val="D9B8B8"/>
                      </a:solidFill>
                    </a:lnR>
                    <a:lnT w="6350">
                      <a:solidFill>
                        <a:srgbClr val="D9B8B8"/>
                      </a:solidFill>
                    </a:lnT>
                    <a:lnB w="6350">
                      <a:solidFill>
                        <a:srgbClr val="D9B8B8"/>
                      </a:solidFill>
                    </a:lnB>
                    <a:solidFill>
                      <a:srgbClr val="FFFFFF"/>
                    </a:solidFill>
                  </a:tcPr>
                </a:tc>
              </a:tr>
              <a:tr h="420000">
                <a:tc>
                  <a:txBody>
                    <a:bodyPr/>
                    <a:lstStyle/>
                    <a:p>
                      <a:pPr algn="l"/>
                      <a:r>
                        <a:rPr lang="en-US" sz="1200" b="1" i="0" dirty="0">
                          <a:solidFill>
                            <a:srgbClr val="000000"/>
                          </a:solidFill>
                          <a:latin typeface="Calibri"/>
                          <a:cs typeface="Nirmala UI"/>
                        </a:rPr>
                        <a:t>river</a:t>
                      </a:r>
                    </a:p>
                  </a:txBody>
                  <a:tcPr marL="91440" marR="91440" marT="45720" marB="45720" anchor="ctr">
                    <a:lnL w="6350">
                      <a:solidFill>
                        <a:srgbClr val="D9B8B8"/>
                      </a:solidFill>
                    </a:lnL>
                    <a:lnR w="6350">
                      <a:solidFill>
                        <a:srgbClr val="D9B8B8"/>
                      </a:solidFill>
                    </a:lnR>
                    <a:lnT w="6350">
                      <a:solidFill>
                        <a:srgbClr val="D9B8B8"/>
                      </a:solidFill>
                    </a:lnT>
                    <a:lnB w="6350">
                      <a:solidFill>
                        <a:srgbClr val="D9B8B8"/>
                      </a:solidFill>
                    </a:lnB>
                    <a:solidFill>
                      <a:srgbClr val="FBEAEA"/>
                    </a:solidFill>
                  </a:tcPr>
                </a:tc>
                <a:tc>
                  <a:txBody>
                    <a:bodyPr/>
                    <a:lstStyle/>
                    <a:p>
                      <a:pPr algn="l"/>
                      <a:r>
                        <a:rPr lang="en-US" sz="1200" b="0" i="0" dirty="0">
                          <a:solidFill>
                            <a:srgbClr val="000000"/>
                          </a:solidFill>
                          <a:latin typeface="Calibri"/>
                          <a:cs typeface="Nirmala UI"/>
                        </a:rPr>
                        <a:t>doc 1 ×2</a:t>
                      </a:r>
                    </a:p>
                  </a:txBody>
                  <a:tcPr marL="91440" marR="91440" marT="45720" marB="45720" anchor="ctr">
                    <a:lnL w="6350">
                      <a:solidFill>
                        <a:srgbClr val="D9B8B8"/>
                      </a:solidFill>
                    </a:lnL>
                    <a:lnR w="6350">
                      <a:solidFill>
                        <a:srgbClr val="D9B8B8"/>
                      </a:solidFill>
                    </a:lnR>
                    <a:lnT w="6350">
                      <a:solidFill>
                        <a:srgbClr val="D9B8B8"/>
                      </a:solidFill>
                    </a:lnT>
                    <a:lnB w="6350">
                      <a:solidFill>
                        <a:srgbClr val="D9B8B8"/>
                      </a:solidFill>
                    </a:lnB>
                    <a:solidFill>
                      <a:srgbClr val="FBEAEA"/>
                    </a:solidFill>
                  </a:tcPr>
                </a:tc>
              </a:tr>
              <a:tr h="420000">
                <a:tc>
                  <a:txBody>
                    <a:bodyPr/>
                    <a:lstStyle/>
                    <a:p>
                      <a:pPr algn="l"/>
                      <a:r>
                        <a:rPr lang="en-US" sz="1200" b="1" i="0" dirty="0">
                          <a:solidFill>
                            <a:srgbClr val="000000"/>
                          </a:solidFill>
                          <a:latin typeface="Calibri"/>
                          <a:cs typeface="Nirmala UI"/>
                        </a:rPr>
                        <a:t>himalayas</a:t>
                      </a:r>
                    </a:p>
                  </a:txBody>
                  <a:tcPr marL="91440" marR="91440" marT="45720" marB="45720" anchor="ctr">
                    <a:lnL w="6350">
                      <a:solidFill>
                        <a:srgbClr val="D9B8B8"/>
                      </a:solidFill>
                    </a:lnL>
                    <a:lnR w="6350">
                      <a:solidFill>
                        <a:srgbClr val="D9B8B8"/>
                      </a:solidFill>
                    </a:lnR>
                    <a:lnT w="6350">
                      <a:solidFill>
                        <a:srgbClr val="D9B8B8"/>
                      </a:solidFill>
                    </a:lnT>
                    <a:lnB w="6350">
                      <a:solidFill>
                        <a:srgbClr val="D9B8B8"/>
                      </a:solidFill>
                    </a:lnB>
                    <a:solidFill>
                      <a:srgbClr val="FFFFFF"/>
                    </a:solidFill>
                  </a:tcPr>
                </a:tc>
                <a:tc>
                  <a:txBody>
                    <a:bodyPr/>
                    <a:lstStyle/>
                    <a:p>
                      <a:pPr algn="l"/>
                      <a:r>
                        <a:rPr lang="en-US" sz="1200" b="0" i="0" dirty="0">
                          <a:solidFill>
                            <a:srgbClr val="000000"/>
                          </a:solidFill>
                          <a:latin typeface="Calibri"/>
                          <a:cs typeface="Nirmala UI"/>
                        </a:rPr>
                        <a:t>doc 1 ×1, doc 4 ×2</a:t>
                      </a:r>
                    </a:p>
                  </a:txBody>
                  <a:tcPr marL="91440" marR="91440" marT="45720" marB="45720" anchor="ctr">
                    <a:lnL w="6350">
                      <a:solidFill>
                        <a:srgbClr val="D9B8B8"/>
                      </a:solidFill>
                    </a:lnL>
                    <a:lnR w="6350">
                      <a:solidFill>
                        <a:srgbClr val="D9B8B8"/>
                      </a:solidFill>
                    </a:lnR>
                    <a:lnT w="6350">
                      <a:solidFill>
                        <a:srgbClr val="D9B8B8"/>
                      </a:solidFill>
                    </a:lnT>
                    <a:lnB w="6350">
                      <a:solidFill>
                        <a:srgbClr val="D9B8B8"/>
                      </a:solidFill>
                    </a:lnB>
                    <a:solidFill>
                      <a:srgbClr val="FFFFFF"/>
                    </a:solidFill>
                  </a:tcPr>
                </a:tc>
              </a:tr>
              <a:tr h="420000">
                <a:tc>
                  <a:txBody>
                    <a:bodyPr/>
                    <a:lstStyle/>
                    <a:p>
                      <a:pPr algn="l"/>
                      <a:r>
                        <a:rPr lang="en-US" sz="1200" b="1" i="0" dirty="0">
                          <a:solidFill>
                            <a:srgbClr val="000000"/>
                          </a:solidFill>
                          <a:latin typeface="Calibri"/>
                          <a:cs typeface="Nirmala UI"/>
                        </a:rPr>
                        <a:t>गंगा</a:t>
                      </a:r>
                    </a:p>
                  </a:txBody>
                  <a:tcPr marL="91440" marR="91440" marT="45720" marB="45720" anchor="ctr">
                    <a:lnL w="6350">
                      <a:solidFill>
                        <a:srgbClr val="D9B8B8"/>
                      </a:solidFill>
                    </a:lnL>
                    <a:lnR w="6350">
                      <a:solidFill>
                        <a:srgbClr val="D9B8B8"/>
                      </a:solidFill>
                    </a:lnR>
                    <a:lnT w="6350">
                      <a:solidFill>
                        <a:srgbClr val="D9B8B8"/>
                      </a:solidFill>
                    </a:lnT>
                    <a:lnB w="6350">
                      <a:solidFill>
                        <a:srgbClr val="D9B8B8"/>
                      </a:solidFill>
                    </a:lnB>
                    <a:solidFill>
                      <a:srgbClr val="FBEAEA"/>
                    </a:solidFill>
                  </a:tcPr>
                </a:tc>
                <a:tc>
                  <a:txBody>
                    <a:bodyPr/>
                    <a:lstStyle/>
                    <a:p>
                      <a:pPr algn="l"/>
                      <a:r>
                        <a:rPr lang="en-US" sz="1200" b="0" i="0" dirty="0">
                          <a:solidFill>
                            <a:srgbClr val="000000"/>
                          </a:solidFill>
                          <a:latin typeface="Calibri"/>
                          <a:cs typeface="Nirmala UI"/>
                        </a:rPr>
                        <a:t>doc 5 ×2</a:t>
                      </a:r>
                    </a:p>
                  </a:txBody>
                  <a:tcPr marL="91440" marR="91440" marT="45720" marB="45720" anchor="ctr">
                    <a:lnL w="6350">
                      <a:solidFill>
                        <a:srgbClr val="D9B8B8"/>
                      </a:solidFill>
                    </a:lnL>
                    <a:lnR w="6350">
                      <a:solidFill>
                        <a:srgbClr val="D9B8B8"/>
                      </a:solidFill>
                    </a:lnR>
                    <a:lnT w="6350">
                      <a:solidFill>
                        <a:srgbClr val="D9B8B8"/>
                      </a:solidFill>
                    </a:lnT>
                    <a:lnB w="6350">
                      <a:solidFill>
                        <a:srgbClr val="D9B8B8"/>
                      </a:solidFill>
                    </a:lnB>
                    <a:solidFill>
                      <a:srgbClr val="FBEAEA"/>
                    </a:solidFill>
                  </a:tcPr>
                </a:tc>
              </a:tr>
            </a:tbl>
          </a:graphicData>
        </a:graphic>
      </p:graphicFrame>
      <p:sp>
        <p:nvSpPr>
          <p:cNvPr id="243" name="Note 243"/>
          <p:cNvSpPr/>
          <p:nvPr/>
        </p:nvSpPr>
        <p:spPr>
          <a:xfrm>
            <a:off x="6900000" y="3700000"/>
            <a:ext cx="4692000" cy="1150000"/>
          </a:xfrm>
          <a:prstGeom prst="roundRect">
            <a:avLst/>
          </a:prstGeom>
          <a:solidFill>
            <a:srgbClr val="FFFFFF"/>
          </a:solidFill>
          <a:ln w="9525">
            <a:solidFill>
              <a:srgbClr val="C00000"/>
            </a:solidFill>
          </a:ln>
        </p:spPr>
        <p:txBody>
          <a:bodyPr wrap="square" lIns="109728" rIns="109728" tIns="73152" bIns="73152" rtlCol="0" anchor="t">
            <a:noAutofit/>
          </a:bodyPr>
          <a:lstStyle/>
          <a:p>
            <a:pPr algn="l">
              <a:spcAft>
                <a:spcPts val="200"/>
              </a:spcAft>
              <a:buNone/>
            </a:pPr>
            <a:r>
              <a:rPr lang="en-US" sz="1300" b="1" i="0" dirty="0">
                <a:solidFill>
                  <a:srgbClr val="C00000"/>
                </a:solidFill>
                <a:latin typeface="Calibri"/>
                <a:cs typeface="Nirmala UI"/>
              </a:rPr>
              <a:t>Data structure</a:t>
            </a:r>
          </a:p>
          <a:p>
            <a:pPr algn="l">
              <a:spcAft>
                <a:spcPts val="0"/>
              </a:spcAft>
              <a:buNone/>
            </a:pPr>
            <a:r>
              <a:rPr lang="en-US" sz="1200" b="0" i="0" dirty="0">
                <a:solidFill>
                  <a:srgbClr val="000000"/>
                </a:solidFill>
                <a:latin typeface="Calibri"/>
                <a:cs typeface="Nirmala UI"/>
              </a:rPr>
              <a:t>HashMap&lt;String, HashMap&lt;Integer, Integer&gt;&gt;: average O(1) term lookup; one entry per unique term.</a:t>
            </a:r>
          </a:p>
        </p:txBody>
      </p:sp>
      <p:sp>
        <p:nvSpPr>
          <p:cNvPr id="244" name="Note 244"/>
          <p:cNvSpPr/>
          <p:nvPr/>
        </p:nvSpPr>
        <p:spPr>
          <a:xfrm>
            <a:off x="6900000" y="4990000"/>
            <a:ext cx="4692000" cy="1290000"/>
          </a:xfrm>
          <a:prstGeom prst="roundRect">
            <a:avLst/>
          </a:prstGeom>
          <a:solidFill>
            <a:srgbClr val="FFFFFF"/>
          </a:solidFill>
          <a:ln w="9525">
            <a:solidFill>
              <a:srgbClr val="C00000"/>
            </a:solidFill>
          </a:ln>
        </p:spPr>
        <p:txBody>
          <a:bodyPr wrap="square" lIns="109728" rIns="109728" tIns="73152" bIns="73152" rtlCol="0" anchor="t">
            <a:noAutofit/>
          </a:bodyPr>
          <a:lstStyle/>
          <a:p>
            <a:pPr algn="l">
              <a:spcAft>
                <a:spcPts val="200"/>
              </a:spcAft>
              <a:buNone/>
            </a:pPr>
            <a:r>
              <a:rPr lang="en-US" sz="1300" b="1" i="0" dirty="0">
                <a:solidFill>
                  <a:srgbClr val="C00000"/>
                </a:solidFill>
                <a:latin typeface="Calibri"/>
                <a:cs typeface="Nirmala UI"/>
              </a:rPr>
              <a:t>Web front end (index.html)</a:t>
            </a:r>
          </a:p>
          <a:p>
            <a:pPr algn="l">
              <a:spcAft>
                <a:spcPts val="0"/>
              </a:spcAft>
              <a:buNone/>
            </a:pPr>
            <a:r>
              <a:rPr lang="en-US" sz="1200" b="0" i="0" dirty="0">
                <a:solidFill>
                  <a:srgbClr val="000000"/>
                </a:solidFill>
                <a:latin typeface="Calibri"/>
                <a:cs typeface="Nirmala UI"/>
              </a:rPr>
              <a:t>The same logic in JavaScript: search box, ANY/ALL and indexed/linear toggles, index-lookup panel, benchmark button, and add-document form.</a:t>
            </a:r>
          </a:p>
        </p:txBody>
      </p:sp>
    </p:spTree>
    <p:extLst>
      <p:ext uri="{BB962C8B-B14F-4D97-AF65-F5344CB8AC3E}">
        <p14:creationId xmlns:p14="http://schemas.microsoft.com/office/powerpoint/2010/main" val="1060922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2660072" y="221673"/>
            <a:ext cx="6871855"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kern="0" dirty="0">
                <a:solidFill>
                  <a:schemeClr val="bg1"/>
                </a:solidFill>
                <a:effectLst/>
                <a:ea typeface="Times New Roman" panose="02020603050405020304" pitchFamily="18" charset="0"/>
              </a:rPr>
              <a:t>Algorithms &amp; Complexity</a:t>
            </a:r>
            <a:endParaRPr lang="en-US" sz="3200" b="1" dirty="0">
              <a:solidFill>
                <a:schemeClr val="bg1"/>
              </a:solidFill>
            </a:endParaRPr>
          </a:p>
        </p:txBody>
      </p:sp>
      <p:sp>
        <p:nvSpPr>
          <p:cNvPr id="245" name="Text 245"/>
          <p:cNvSpPr txBox="1"/>
          <p:nvPr/>
        </p:nvSpPr>
        <p:spPr>
          <a:xfrm>
            <a:off x="600000" y="1000000"/>
            <a:ext cx="5300000" cy="300000"/>
          </a:xfrm>
          <a:prstGeom prst="rect">
            <a:avLst/>
          </a:prstGeom>
          <a:noFill/>
        </p:spPr>
        <p:txBody>
          <a:bodyPr wrap="square" lIns="0" rIns="0" tIns="0" bIns="0" rtlCol="0" anchor="t">
            <a:noAutofit/>
          </a:bodyPr>
          <a:lstStyle/>
          <a:p>
            <a:pPr algn="l">
              <a:spcAft>
                <a:spcPts val="0"/>
              </a:spcAft>
              <a:buNone/>
            </a:pPr>
            <a:r>
              <a:rPr lang="en-US" sz="1600" b="1" i="0" dirty="0">
                <a:solidFill>
                  <a:srgbClr val="C00000"/>
                </a:solidFill>
                <a:latin typeface="Calibri"/>
                <a:cs typeface="Nirmala UI"/>
              </a:rPr>
              <a:t>Algorithms</a:t>
            </a:r>
          </a:p>
        </p:txBody>
      </p:sp>
      <p:sp>
        <p:nvSpPr>
          <p:cNvPr id="246" name="Algo 246"/>
          <p:cNvSpPr/>
          <p:nvPr/>
        </p:nvSpPr>
        <p:spPr>
          <a:xfrm>
            <a:off x="600000" y="1400000"/>
            <a:ext cx="5400000" cy="1450000"/>
          </a:xfrm>
          <a:prstGeom prst="roundRect">
            <a:avLst/>
          </a:prstGeom>
          <a:solidFill>
            <a:srgbClr val="FFFFFF"/>
          </a:solidFill>
          <a:ln w="9525">
            <a:solidFill>
              <a:srgbClr val="C00000"/>
            </a:solidFill>
          </a:ln>
        </p:spPr>
        <p:txBody>
          <a:bodyPr wrap="square" lIns="146304" rIns="146304" tIns="73152" bIns="73152" rtlCol="0" anchor="ctr">
            <a:noAutofit/>
          </a:bodyPr>
          <a:lstStyle/>
          <a:p>
            <a:pPr algn="l">
              <a:spcAft>
                <a:spcPts val="300"/>
              </a:spcAft>
              <a:buNone/>
            </a:pPr>
            <a:r>
              <a:rPr lang="en-US" sz="1300" b="1" i="0" dirty="0">
                <a:solidFill>
                  <a:srgbClr val="C00000"/>
                </a:solidFill>
                <a:latin typeface="Calibri"/>
                <a:cs typeface="Nirmala UI"/>
              </a:rPr>
              <a:t>1. Build the index (once)</a:t>
            </a:r>
          </a:p>
          <a:p>
            <a:pPr algn="l">
              <a:spcAft>
                <a:spcPts val="100"/>
              </a:spcAft>
              <a:buNone/>
            </a:pPr>
            <a:r>
              <a:rPr lang="en-US" sz="1150" b="0" i="0" dirty="0">
                <a:solidFill>
                  <a:srgbClr val="000000"/>
                </a:solidFill>
                <a:latin typeface="Calibri"/>
                <a:cs typeface="Nirmala UI"/>
              </a:rPr>
              <a:t>for each document: tokenise title + text</a:t>
            </a:r>
          </a:p>
          <a:p>
            <a:pPr algn="l">
              <a:spcAft>
                <a:spcPts val="100"/>
              </a:spcAft>
              <a:buNone/>
            </a:pPr>
            <a:r>
              <a:rPr lang="en-US" sz="1150" b="0" i="0" dirty="0">
                <a:solidFill>
                  <a:srgbClr val="000000"/>
                </a:solidFill>
                <a:latin typeface="Calibri"/>
                <a:cs typeface="Nirmala UI"/>
              </a:rPr>
              <a:t>for each token: postings[token][docId] += 1</a:t>
            </a:r>
          </a:p>
          <a:p>
            <a:pPr algn="l">
              <a:spcAft>
                <a:spcPts val="0"/>
              </a:spcAft>
              <a:buNone/>
            </a:pPr>
            <a:r>
              <a:rPr lang="en-US" sz="1150" b="1" i="1" dirty="0">
                <a:solidFill>
                  <a:srgbClr val="9C0000"/>
                </a:solidFill>
                <a:latin typeface="Calibri"/>
                <a:cs typeface="Nirmala UI"/>
              </a:rPr>
              <a:t>Cost: O(N) for N tokens</a:t>
            </a:r>
          </a:p>
        </p:txBody>
      </p:sp>
      <p:sp>
        <p:nvSpPr>
          <p:cNvPr id="247" name="Algo 247"/>
          <p:cNvSpPr/>
          <p:nvPr/>
        </p:nvSpPr>
        <p:spPr>
          <a:xfrm>
            <a:off x="600000" y="3000000"/>
            <a:ext cx="5400000" cy="1450000"/>
          </a:xfrm>
          <a:prstGeom prst="roundRect">
            <a:avLst/>
          </a:prstGeom>
          <a:solidFill>
            <a:srgbClr val="FFFFFF"/>
          </a:solidFill>
          <a:ln w="9525">
            <a:solidFill>
              <a:srgbClr val="C00000"/>
            </a:solidFill>
          </a:ln>
        </p:spPr>
        <p:txBody>
          <a:bodyPr wrap="square" lIns="146304" rIns="146304" tIns="73152" bIns="73152" rtlCol="0" anchor="ctr">
            <a:noAutofit/>
          </a:bodyPr>
          <a:lstStyle/>
          <a:p>
            <a:pPr algn="l">
              <a:spcAft>
                <a:spcPts val="300"/>
              </a:spcAft>
              <a:buNone/>
            </a:pPr>
            <a:r>
              <a:rPr lang="en-US" sz="1300" b="1" i="0" dirty="0">
                <a:solidFill>
                  <a:srgbClr val="C00000"/>
                </a:solidFill>
                <a:latin typeface="Calibri"/>
                <a:cs typeface="Nirmala UI"/>
              </a:rPr>
              <a:t>2. Search (every query)</a:t>
            </a:r>
          </a:p>
          <a:p>
            <a:pPr algn="l">
              <a:spcAft>
                <a:spcPts val="100"/>
              </a:spcAft>
              <a:buNone/>
            </a:pPr>
            <a:r>
              <a:rPr lang="en-US" sz="1150" b="0" i="0" dirty="0">
                <a:solidFill>
                  <a:srgbClr val="000000"/>
                </a:solidFill>
                <a:latin typeface="Calibri"/>
                <a:cs typeface="Nirmala UI"/>
              </a:rPr>
              <a:t>for each keyword: read its postings list</a:t>
            </a:r>
          </a:p>
          <a:p>
            <a:pPr algn="l">
              <a:spcAft>
                <a:spcPts val="100"/>
              </a:spcAft>
              <a:buNone/>
            </a:pPr>
            <a:r>
              <a:rPr lang="en-US" sz="1150" b="0" i="0" dirty="0">
                <a:solidFill>
                  <a:srgbClr val="000000"/>
                </a:solidFill>
                <a:latin typeface="Calibri"/>
                <a:cs typeface="Nirmala UI"/>
              </a:rPr>
              <a:t>add its frequency to each document’s score</a:t>
            </a:r>
          </a:p>
          <a:p>
            <a:pPr algn="l">
              <a:spcAft>
                <a:spcPts val="0"/>
              </a:spcAft>
              <a:buNone/>
            </a:pPr>
            <a:r>
              <a:rPr lang="en-US" sz="1150" b="1" i="1" dirty="0">
                <a:solidFill>
                  <a:srgbClr val="9C0000"/>
                </a:solidFill>
                <a:latin typeface="Calibri"/>
                <a:cs typeface="Nirmala UI"/>
              </a:rPr>
              <a:t>Cost: O(k + postings read)</a:t>
            </a:r>
          </a:p>
        </p:txBody>
      </p:sp>
      <p:sp>
        <p:nvSpPr>
          <p:cNvPr id="248" name="Algo 248"/>
          <p:cNvSpPr/>
          <p:nvPr/>
        </p:nvSpPr>
        <p:spPr>
          <a:xfrm>
            <a:off x="600000" y="4600000"/>
            <a:ext cx="5400000" cy="1450000"/>
          </a:xfrm>
          <a:prstGeom prst="roundRect">
            <a:avLst/>
          </a:prstGeom>
          <a:solidFill>
            <a:srgbClr val="FFFFFF"/>
          </a:solidFill>
          <a:ln w="9525">
            <a:solidFill>
              <a:srgbClr val="C00000"/>
            </a:solidFill>
          </a:ln>
        </p:spPr>
        <p:txBody>
          <a:bodyPr wrap="square" lIns="146304" rIns="146304" tIns="73152" bIns="73152" rtlCol="0" anchor="ctr">
            <a:noAutofit/>
          </a:bodyPr>
          <a:lstStyle/>
          <a:p>
            <a:pPr algn="l">
              <a:spcAft>
                <a:spcPts val="300"/>
              </a:spcAft>
              <a:buNone/>
            </a:pPr>
            <a:r>
              <a:rPr lang="en-US" sz="1300" b="1" i="0" dirty="0">
                <a:solidFill>
                  <a:srgbClr val="C00000"/>
                </a:solidFill>
                <a:latin typeface="Calibri"/>
                <a:cs typeface="Nirmala UI"/>
              </a:rPr>
              <a:t>3. Rank and return</a:t>
            </a:r>
          </a:p>
          <a:p>
            <a:pPr algn="l">
              <a:spcAft>
                <a:spcPts val="100"/>
              </a:spcAft>
              <a:buNone/>
            </a:pPr>
            <a:r>
              <a:rPr lang="en-US" sz="1150" b="0" i="0" dirty="0">
                <a:solidFill>
                  <a:srgbClr val="000000"/>
                </a:solidFill>
                <a:latin typeface="Calibri"/>
                <a:cs typeface="Nirmala UI"/>
              </a:rPr>
              <a:t>ANY keeps every scored document; ALL keeps only</a:t>
            </a:r>
          </a:p>
          <a:p>
            <a:pPr algn="l">
              <a:spcAft>
                <a:spcPts val="100"/>
              </a:spcAft>
              <a:buNone/>
            </a:pPr>
            <a:r>
              <a:rPr lang="en-US" sz="1150" b="0" i="0" dirty="0">
                <a:solidFill>
                  <a:srgbClr val="000000"/>
                </a:solidFill>
                <a:latin typeface="Calibri"/>
                <a:cs typeface="Nirmala UI"/>
              </a:rPr>
              <a:t>documents matched by all k keywords; sort by score</a:t>
            </a:r>
          </a:p>
          <a:p>
            <a:pPr algn="l">
              <a:spcAft>
                <a:spcPts val="0"/>
              </a:spcAft>
              <a:buNone/>
            </a:pPr>
            <a:r>
              <a:rPr lang="en-US" sz="1150" b="1" i="1" dirty="0">
                <a:solidFill>
                  <a:srgbClr val="9C0000"/>
                </a:solidFill>
                <a:latin typeface="Calibri"/>
                <a:cs typeface="Nirmala UI"/>
              </a:rPr>
              <a:t>Cost: O(m log m) for m matches</a:t>
            </a:r>
          </a:p>
        </p:txBody>
      </p:sp>
      <p:sp>
        <p:nvSpPr>
          <p:cNvPr id="249" name="Text 249"/>
          <p:cNvSpPr txBox="1"/>
          <p:nvPr/>
        </p:nvSpPr>
        <p:spPr>
          <a:xfrm>
            <a:off x="6300000" y="1000000"/>
            <a:ext cx="5292000" cy="300000"/>
          </a:xfrm>
          <a:prstGeom prst="rect">
            <a:avLst/>
          </a:prstGeom>
          <a:noFill/>
        </p:spPr>
        <p:txBody>
          <a:bodyPr wrap="square" lIns="0" rIns="0" tIns="0" bIns="0" rtlCol="0" anchor="t">
            <a:noAutofit/>
          </a:bodyPr>
          <a:lstStyle/>
          <a:p>
            <a:pPr algn="l">
              <a:spcAft>
                <a:spcPts val="0"/>
              </a:spcAft>
              <a:buNone/>
            </a:pPr>
            <a:r>
              <a:rPr lang="en-US" sz="1600" b="1" i="0" dirty="0">
                <a:solidFill>
                  <a:srgbClr val="C00000"/>
                </a:solidFill>
                <a:latin typeface="Calibri"/>
                <a:cs typeface="Nirmala UI"/>
              </a:rPr>
              <a:t>Linear scan vs inverted index</a:t>
            </a:r>
          </a:p>
        </p:txBody>
      </p:sp>
      <p:graphicFrame>
        <p:nvGraphicFramePr>
          <p:cNvPr id="250" name="ComplexityTable 250"/>
          <p:cNvGraphicFramePr>
            <a:graphicFrameLocks noGrp="1"/>
          </p:cNvGraphicFramePr>
          <p:nvPr/>
        </p:nvGraphicFramePr>
        <p:xfrm>
          <a:off x="6300000" y="1400000"/>
          <a:ext cx="5292000" cy="2640000"/>
        </p:xfrm>
        <a:graphic>
          <a:graphicData uri="http://schemas.openxmlformats.org/drawingml/2006/table">
            <a:tbl>
              <a:tblPr firstRow="1"/>
              <a:tblGrid>
                <a:gridCol w="1750000"/>
                <a:gridCol w="1600000"/>
                <a:gridCol w="1942000"/>
              </a:tblGrid>
              <a:tr h="440000">
                <a:tc>
                  <a:txBody>
                    <a:bodyPr/>
                    <a:lstStyle/>
                    <a:p>
                      <a:pPr algn="l"/>
                      <a:r>
                        <a:rPr lang="en-US" sz="1200" b="1" i="0" dirty="0">
                          <a:solidFill>
                            <a:srgbClr val="FFFFFF"/>
                          </a:solidFill>
                          <a:latin typeface="Calibri"/>
                          <a:cs typeface="Nirmala UI"/>
                        </a:rPr>
                        <a:t>Operation</a:t>
                      </a:r>
                    </a:p>
                  </a:txBody>
                  <a:tcPr marL="91440" marR="91440" marT="45720" marB="45720" anchor="ctr">
                    <a:lnL w="6350">
                      <a:solidFill>
                        <a:srgbClr val="D9B8B8"/>
                      </a:solidFill>
                    </a:lnL>
                    <a:lnR w="6350">
                      <a:solidFill>
                        <a:srgbClr val="D9B8B8"/>
                      </a:solidFill>
                    </a:lnR>
                    <a:lnT w="6350">
                      <a:solidFill>
                        <a:srgbClr val="D9B8B8"/>
                      </a:solidFill>
                    </a:lnT>
                    <a:lnB w="6350">
                      <a:solidFill>
                        <a:srgbClr val="D9B8B8"/>
                      </a:solidFill>
                    </a:lnB>
                    <a:solidFill>
                      <a:srgbClr val="C00000"/>
                    </a:solidFill>
                  </a:tcPr>
                </a:tc>
                <a:tc>
                  <a:txBody>
                    <a:bodyPr/>
                    <a:lstStyle/>
                    <a:p>
                      <a:pPr algn="l"/>
                      <a:r>
                        <a:rPr lang="en-US" sz="1200" b="1" i="0" dirty="0">
                          <a:solidFill>
                            <a:srgbClr val="FFFFFF"/>
                          </a:solidFill>
                          <a:latin typeface="Calibri"/>
                          <a:cs typeface="Nirmala UI"/>
                        </a:rPr>
                        <a:t>Linear scan</a:t>
                      </a:r>
                    </a:p>
                  </a:txBody>
                  <a:tcPr marL="91440" marR="91440" marT="45720" marB="45720" anchor="ctr">
                    <a:lnL w="6350">
                      <a:solidFill>
                        <a:srgbClr val="D9B8B8"/>
                      </a:solidFill>
                    </a:lnL>
                    <a:lnR w="6350">
                      <a:solidFill>
                        <a:srgbClr val="D9B8B8"/>
                      </a:solidFill>
                    </a:lnR>
                    <a:lnT w="6350">
                      <a:solidFill>
                        <a:srgbClr val="D9B8B8"/>
                      </a:solidFill>
                    </a:lnT>
                    <a:lnB w="6350">
                      <a:solidFill>
                        <a:srgbClr val="D9B8B8"/>
                      </a:solidFill>
                    </a:lnB>
                    <a:solidFill>
                      <a:srgbClr val="C00000"/>
                    </a:solidFill>
                  </a:tcPr>
                </a:tc>
                <a:tc>
                  <a:txBody>
                    <a:bodyPr/>
                    <a:lstStyle/>
                    <a:p>
                      <a:pPr algn="l"/>
                      <a:r>
                        <a:rPr lang="en-US" sz="1200" b="1" i="0" dirty="0">
                          <a:solidFill>
                            <a:srgbClr val="FFFFFF"/>
                          </a:solidFill>
                          <a:latin typeface="Calibri"/>
                          <a:cs typeface="Nirmala UI"/>
                        </a:rPr>
                        <a:t>Inverted index</a:t>
                      </a:r>
                    </a:p>
                  </a:txBody>
                  <a:tcPr marL="91440" marR="91440" marT="45720" marB="45720" anchor="ctr">
                    <a:lnL w="6350">
                      <a:solidFill>
                        <a:srgbClr val="D9B8B8"/>
                      </a:solidFill>
                    </a:lnL>
                    <a:lnR w="6350">
                      <a:solidFill>
                        <a:srgbClr val="D9B8B8"/>
                      </a:solidFill>
                    </a:lnR>
                    <a:lnT w="6350">
                      <a:solidFill>
                        <a:srgbClr val="D9B8B8"/>
                      </a:solidFill>
                    </a:lnT>
                    <a:lnB w="6350">
                      <a:solidFill>
                        <a:srgbClr val="D9B8B8"/>
                      </a:solidFill>
                    </a:lnB>
                    <a:solidFill>
                      <a:srgbClr val="C00000"/>
                    </a:solidFill>
                  </a:tcPr>
                </a:tc>
              </a:tr>
              <a:tr h="440000">
                <a:tc>
                  <a:txBody>
                    <a:bodyPr/>
                    <a:lstStyle/>
                    <a:p>
                      <a:pPr algn="l"/>
                      <a:r>
                        <a:rPr lang="en-US" sz="1200" b="1" i="0" dirty="0">
                          <a:solidFill>
                            <a:srgbClr val="000000"/>
                          </a:solidFill>
                          <a:latin typeface="Calibri"/>
                          <a:cs typeface="Nirmala UI"/>
                        </a:rPr>
                        <a:t>Preparation</a:t>
                      </a:r>
                    </a:p>
                  </a:txBody>
                  <a:tcPr marL="91440" marR="91440" marT="45720" marB="45720" anchor="ctr">
                    <a:lnL w="6350">
                      <a:solidFill>
                        <a:srgbClr val="D9B8B8"/>
                      </a:solidFill>
                    </a:lnL>
                    <a:lnR w="6350">
                      <a:solidFill>
                        <a:srgbClr val="D9B8B8"/>
                      </a:solidFill>
                    </a:lnR>
                    <a:lnT w="6350">
                      <a:solidFill>
                        <a:srgbClr val="D9B8B8"/>
                      </a:solidFill>
                    </a:lnT>
                    <a:lnB w="6350">
                      <a:solidFill>
                        <a:srgbClr val="D9B8B8"/>
                      </a:solidFill>
                    </a:lnB>
                    <a:solidFill>
                      <a:srgbClr val="FFFFFF"/>
                    </a:solidFill>
                  </a:tcPr>
                </a:tc>
                <a:tc>
                  <a:txBody>
                    <a:bodyPr/>
                    <a:lstStyle/>
                    <a:p>
                      <a:pPr algn="l"/>
                      <a:r>
                        <a:rPr lang="en-US" sz="1200" b="0" i="0" dirty="0">
                          <a:solidFill>
                            <a:srgbClr val="000000"/>
                          </a:solidFill>
                          <a:latin typeface="Calibri"/>
                          <a:cs typeface="Nirmala UI"/>
                        </a:rPr>
                        <a:t>none</a:t>
                      </a:r>
                    </a:p>
                  </a:txBody>
                  <a:tcPr marL="91440" marR="91440" marT="45720" marB="45720" anchor="ctr">
                    <a:lnL w="6350">
                      <a:solidFill>
                        <a:srgbClr val="D9B8B8"/>
                      </a:solidFill>
                    </a:lnL>
                    <a:lnR w="6350">
                      <a:solidFill>
                        <a:srgbClr val="D9B8B8"/>
                      </a:solidFill>
                    </a:lnR>
                    <a:lnT w="6350">
                      <a:solidFill>
                        <a:srgbClr val="D9B8B8"/>
                      </a:solidFill>
                    </a:lnT>
                    <a:lnB w="6350">
                      <a:solidFill>
                        <a:srgbClr val="D9B8B8"/>
                      </a:solidFill>
                    </a:lnB>
                    <a:solidFill>
                      <a:srgbClr val="FFFFFF"/>
                    </a:solidFill>
                  </a:tcPr>
                </a:tc>
                <a:tc>
                  <a:txBody>
                    <a:bodyPr/>
                    <a:lstStyle/>
                    <a:p>
                      <a:pPr algn="l"/>
                      <a:r>
                        <a:rPr lang="en-US" sz="1200" b="0" i="0" dirty="0">
                          <a:solidFill>
                            <a:srgbClr val="000000"/>
                          </a:solidFill>
                          <a:latin typeface="Calibri"/>
                          <a:cs typeface="Nirmala UI"/>
                        </a:rPr>
                        <a:t>O(N), once</a:t>
                      </a:r>
                    </a:p>
                  </a:txBody>
                  <a:tcPr marL="91440" marR="91440" marT="45720" marB="45720" anchor="ctr">
                    <a:lnL w="6350">
                      <a:solidFill>
                        <a:srgbClr val="D9B8B8"/>
                      </a:solidFill>
                    </a:lnL>
                    <a:lnR w="6350">
                      <a:solidFill>
                        <a:srgbClr val="D9B8B8"/>
                      </a:solidFill>
                    </a:lnR>
                    <a:lnT w="6350">
                      <a:solidFill>
                        <a:srgbClr val="D9B8B8"/>
                      </a:solidFill>
                    </a:lnT>
                    <a:lnB w="6350">
                      <a:solidFill>
                        <a:srgbClr val="D9B8B8"/>
                      </a:solidFill>
                    </a:lnB>
                    <a:solidFill>
                      <a:srgbClr val="FFFFFF"/>
                    </a:solidFill>
                  </a:tcPr>
                </a:tc>
              </a:tr>
              <a:tr h="440000">
                <a:tc>
                  <a:txBody>
                    <a:bodyPr/>
                    <a:lstStyle/>
                    <a:p>
                      <a:pPr algn="l"/>
                      <a:r>
                        <a:rPr lang="en-US" sz="1200" b="1" i="0" dirty="0">
                          <a:solidFill>
                            <a:srgbClr val="000000"/>
                          </a:solidFill>
                          <a:latin typeface="Calibri"/>
                          <a:cs typeface="Nirmala UI"/>
                        </a:rPr>
                        <a:t>One keyword</a:t>
                      </a:r>
                    </a:p>
                  </a:txBody>
                  <a:tcPr marL="91440" marR="91440" marT="45720" marB="45720" anchor="ctr">
                    <a:lnL w="6350">
                      <a:solidFill>
                        <a:srgbClr val="D9B8B8"/>
                      </a:solidFill>
                    </a:lnL>
                    <a:lnR w="6350">
                      <a:solidFill>
                        <a:srgbClr val="D9B8B8"/>
                      </a:solidFill>
                    </a:lnR>
                    <a:lnT w="6350">
                      <a:solidFill>
                        <a:srgbClr val="D9B8B8"/>
                      </a:solidFill>
                    </a:lnT>
                    <a:lnB w="6350">
                      <a:solidFill>
                        <a:srgbClr val="D9B8B8"/>
                      </a:solidFill>
                    </a:lnB>
                    <a:solidFill>
                      <a:srgbClr val="FBEAEA"/>
                    </a:solidFill>
                  </a:tcPr>
                </a:tc>
                <a:tc>
                  <a:txBody>
                    <a:bodyPr/>
                    <a:lstStyle/>
                    <a:p>
                      <a:pPr algn="l"/>
                      <a:r>
                        <a:rPr lang="en-US" sz="1200" b="0" i="0" dirty="0">
                          <a:solidFill>
                            <a:srgbClr val="000000"/>
                          </a:solidFill>
                          <a:latin typeface="Calibri"/>
                          <a:cs typeface="Nirmala UI"/>
                        </a:rPr>
                        <a:t>O(N)</a:t>
                      </a:r>
                    </a:p>
                  </a:txBody>
                  <a:tcPr marL="91440" marR="91440" marT="45720" marB="45720" anchor="ctr">
                    <a:lnL w="6350">
                      <a:solidFill>
                        <a:srgbClr val="D9B8B8"/>
                      </a:solidFill>
                    </a:lnL>
                    <a:lnR w="6350">
                      <a:solidFill>
                        <a:srgbClr val="D9B8B8"/>
                      </a:solidFill>
                    </a:lnR>
                    <a:lnT w="6350">
                      <a:solidFill>
                        <a:srgbClr val="D9B8B8"/>
                      </a:solidFill>
                    </a:lnT>
                    <a:lnB w="6350">
                      <a:solidFill>
                        <a:srgbClr val="D9B8B8"/>
                      </a:solidFill>
                    </a:lnB>
                    <a:solidFill>
                      <a:srgbClr val="FBEAEA"/>
                    </a:solidFill>
                  </a:tcPr>
                </a:tc>
                <a:tc>
                  <a:txBody>
                    <a:bodyPr/>
                    <a:lstStyle/>
                    <a:p>
                      <a:pPr algn="l"/>
                      <a:r>
                        <a:rPr lang="en-US" sz="1200" b="0" i="0" dirty="0">
                          <a:solidFill>
                            <a:srgbClr val="000000"/>
                          </a:solidFill>
                          <a:latin typeface="Calibri"/>
                          <a:cs typeface="Nirmala UI"/>
                        </a:rPr>
                        <a:t>O(1) average</a:t>
                      </a:r>
                    </a:p>
                  </a:txBody>
                  <a:tcPr marL="91440" marR="91440" marT="45720" marB="45720" anchor="ctr">
                    <a:lnL w="6350">
                      <a:solidFill>
                        <a:srgbClr val="D9B8B8"/>
                      </a:solidFill>
                    </a:lnL>
                    <a:lnR w="6350">
                      <a:solidFill>
                        <a:srgbClr val="D9B8B8"/>
                      </a:solidFill>
                    </a:lnR>
                    <a:lnT w="6350">
                      <a:solidFill>
                        <a:srgbClr val="D9B8B8"/>
                      </a:solidFill>
                    </a:lnT>
                    <a:lnB w="6350">
                      <a:solidFill>
                        <a:srgbClr val="D9B8B8"/>
                      </a:solidFill>
                    </a:lnB>
                    <a:solidFill>
                      <a:srgbClr val="FBEAEA"/>
                    </a:solidFill>
                  </a:tcPr>
                </a:tc>
              </a:tr>
              <a:tr h="440000">
                <a:tc>
                  <a:txBody>
                    <a:bodyPr/>
                    <a:lstStyle/>
                    <a:p>
                      <a:pPr algn="l"/>
                      <a:r>
                        <a:rPr lang="en-US" sz="1200" b="1" i="0" dirty="0">
                          <a:solidFill>
                            <a:srgbClr val="000000"/>
                          </a:solidFill>
                          <a:latin typeface="Calibri"/>
                          <a:cs typeface="Nirmala UI"/>
                        </a:rPr>
                        <a:t>k keywords</a:t>
                      </a:r>
                    </a:p>
                  </a:txBody>
                  <a:tcPr marL="91440" marR="91440" marT="45720" marB="45720" anchor="ctr">
                    <a:lnL w="6350">
                      <a:solidFill>
                        <a:srgbClr val="D9B8B8"/>
                      </a:solidFill>
                    </a:lnL>
                    <a:lnR w="6350">
                      <a:solidFill>
                        <a:srgbClr val="D9B8B8"/>
                      </a:solidFill>
                    </a:lnR>
                    <a:lnT w="6350">
                      <a:solidFill>
                        <a:srgbClr val="D9B8B8"/>
                      </a:solidFill>
                    </a:lnT>
                    <a:lnB w="6350">
                      <a:solidFill>
                        <a:srgbClr val="D9B8B8"/>
                      </a:solidFill>
                    </a:lnB>
                    <a:solidFill>
                      <a:srgbClr val="FFFFFF"/>
                    </a:solidFill>
                  </a:tcPr>
                </a:tc>
                <a:tc>
                  <a:txBody>
                    <a:bodyPr/>
                    <a:lstStyle/>
                    <a:p>
                      <a:pPr algn="l"/>
                      <a:r>
                        <a:rPr lang="en-US" sz="1200" b="0" i="0" dirty="0">
                          <a:solidFill>
                            <a:srgbClr val="000000"/>
                          </a:solidFill>
                          <a:latin typeface="Calibri"/>
                          <a:cs typeface="Nirmala UI"/>
                        </a:rPr>
                        <a:t>O(k·N)</a:t>
                      </a:r>
                    </a:p>
                  </a:txBody>
                  <a:tcPr marL="91440" marR="91440" marT="45720" marB="45720" anchor="ctr">
                    <a:lnL w="6350">
                      <a:solidFill>
                        <a:srgbClr val="D9B8B8"/>
                      </a:solidFill>
                    </a:lnL>
                    <a:lnR w="6350">
                      <a:solidFill>
                        <a:srgbClr val="D9B8B8"/>
                      </a:solidFill>
                    </a:lnR>
                    <a:lnT w="6350">
                      <a:solidFill>
                        <a:srgbClr val="D9B8B8"/>
                      </a:solidFill>
                    </a:lnT>
                    <a:lnB w="6350">
                      <a:solidFill>
                        <a:srgbClr val="D9B8B8"/>
                      </a:solidFill>
                    </a:lnB>
                    <a:solidFill>
                      <a:srgbClr val="FFFFFF"/>
                    </a:solidFill>
                  </a:tcPr>
                </a:tc>
                <a:tc>
                  <a:txBody>
                    <a:bodyPr/>
                    <a:lstStyle/>
                    <a:p>
                      <a:pPr algn="l"/>
                      <a:r>
                        <a:rPr lang="en-US" sz="1200" b="0" i="0" dirty="0">
                          <a:solidFill>
                            <a:srgbClr val="000000"/>
                          </a:solidFill>
                          <a:latin typeface="Calibri"/>
                          <a:cs typeface="Nirmala UI"/>
                        </a:rPr>
                        <a:t>O(k + postings)</a:t>
                      </a:r>
                    </a:p>
                  </a:txBody>
                  <a:tcPr marL="91440" marR="91440" marT="45720" marB="45720" anchor="ctr">
                    <a:lnL w="6350">
                      <a:solidFill>
                        <a:srgbClr val="D9B8B8"/>
                      </a:solidFill>
                    </a:lnL>
                    <a:lnR w="6350">
                      <a:solidFill>
                        <a:srgbClr val="D9B8B8"/>
                      </a:solidFill>
                    </a:lnR>
                    <a:lnT w="6350">
                      <a:solidFill>
                        <a:srgbClr val="D9B8B8"/>
                      </a:solidFill>
                    </a:lnT>
                    <a:lnB w="6350">
                      <a:solidFill>
                        <a:srgbClr val="D9B8B8"/>
                      </a:solidFill>
                    </a:lnB>
                    <a:solidFill>
                      <a:srgbClr val="FFFFFF"/>
                    </a:solidFill>
                  </a:tcPr>
                </a:tc>
              </a:tr>
              <a:tr h="440000">
                <a:tc>
                  <a:txBody>
                    <a:bodyPr/>
                    <a:lstStyle/>
                    <a:p>
                      <a:pPr algn="l"/>
                      <a:r>
                        <a:rPr lang="en-US" sz="1200" b="1" i="0" dirty="0">
                          <a:solidFill>
                            <a:srgbClr val="000000"/>
                          </a:solidFill>
                          <a:latin typeface="Calibri"/>
                          <a:cs typeface="Nirmala UI"/>
                        </a:rPr>
                        <a:t>Ranking m matches</a:t>
                      </a:r>
                    </a:p>
                  </a:txBody>
                  <a:tcPr marL="91440" marR="91440" marT="45720" marB="45720" anchor="ctr">
                    <a:lnL w="6350">
                      <a:solidFill>
                        <a:srgbClr val="D9B8B8"/>
                      </a:solidFill>
                    </a:lnL>
                    <a:lnR w="6350">
                      <a:solidFill>
                        <a:srgbClr val="D9B8B8"/>
                      </a:solidFill>
                    </a:lnR>
                    <a:lnT w="6350">
                      <a:solidFill>
                        <a:srgbClr val="D9B8B8"/>
                      </a:solidFill>
                    </a:lnT>
                    <a:lnB w="6350">
                      <a:solidFill>
                        <a:srgbClr val="D9B8B8"/>
                      </a:solidFill>
                    </a:lnB>
                    <a:solidFill>
                      <a:srgbClr val="FBEAEA"/>
                    </a:solidFill>
                  </a:tcPr>
                </a:tc>
                <a:tc>
                  <a:txBody>
                    <a:bodyPr/>
                    <a:lstStyle/>
                    <a:p>
                      <a:pPr algn="l"/>
                      <a:r>
                        <a:rPr lang="en-US" sz="1200" b="0" i="0" dirty="0">
                          <a:solidFill>
                            <a:srgbClr val="000000"/>
                          </a:solidFill>
                          <a:latin typeface="Calibri"/>
                          <a:cs typeface="Nirmala UI"/>
                        </a:rPr>
                        <a:t>O(m log m)</a:t>
                      </a:r>
                    </a:p>
                  </a:txBody>
                  <a:tcPr marL="91440" marR="91440" marT="45720" marB="45720" anchor="ctr">
                    <a:lnL w="6350">
                      <a:solidFill>
                        <a:srgbClr val="D9B8B8"/>
                      </a:solidFill>
                    </a:lnL>
                    <a:lnR w="6350">
                      <a:solidFill>
                        <a:srgbClr val="D9B8B8"/>
                      </a:solidFill>
                    </a:lnR>
                    <a:lnT w="6350">
                      <a:solidFill>
                        <a:srgbClr val="D9B8B8"/>
                      </a:solidFill>
                    </a:lnT>
                    <a:lnB w="6350">
                      <a:solidFill>
                        <a:srgbClr val="D9B8B8"/>
                      </a:solidFill>
                    </a:lnB>
                    <a:solidFill>
                      <a:srgbClr val="FBEAEA"/>
                    </a:solidFill>
                  </a:tcPr>
                </a:tc>
                <a:tc>
                  <a:txBody>
                    <a:bodyPr/>
                    <a:lstStyle/>
                    <a:p>
                      <a:pPr algn="l"/>
                      <a:r>
                        <a:rPr lang="en-US" sz="1200" b="0" i="0" dirty="0">
                          <a:solidFill>
                            <a:srgbClr val="000000"/>
                          </a:solidFill>
                          <a:latin typeface="Calibri"/>
                          <a:cs typeface="Nirmala UI"/>
                        </a:rPr>
                        <a:t>O(m log m)</a:t>
                      </a:r>
                    </a:p>
                  </a:txBody>
                  <a:tcPr marL="91440" marR="91440" marT="45720" marB="45720" anchor="ctr">
                    <a:lnL w="6350">
                      <a:solidFill>
                        <a:srgbClr val="D9B8B8"/>
                      </a:solidFill>
                    </a:lnL>
                    <a:lnR w="6350">
                      <a:solidFill>
                        <a:srgbClr val="D9B8B8"/>
                      </a:solidFill>
                    </a:lnR>
                    <a:lnT w="6350">
                      <a:solidFill>
                        <a:srgbClr val="D9B8B8"/>
                      </a:solidFill>
                    </a:lnT>
                    <a:lnB w="6350">
                      <a:solidFill>
                        <a:srgbClr val="D9B8B8"/>
                      </a:solidFill>
                    </a:lnB>
                    <a:solidFill>
                      <a:srgbClr val="FBEAEA"/>
                    </a:solidFill>
                  </a:tcPr>
                </a:tc>
              </a:tr>
              <a:tr h="440000">
                <a:tc>
                  <a:txBody>
                    <a:bodyPr/>
                    <a:lstStyle/>
                    <a:p>
                      <a:pPr algn="l"/>
                      <a:r>
                        <a:rPr lang="en-US" sz="1200" b="1" i="0" dirty="0">
                          <a:solidFill>
                            <a:srgbClr val="000000"/>
                          </a:solidFill>
                          <a:latin typeface="Calibri"/>
                          <a:cs typeface="Nirmala UI"/>
                        </a:rPr>
                        <a:t>Extra memory</a:t>
                      </a:r>
                    </a:p>
                  </a:txBody>
                  <a:tcPr marL="91440" marR="91440" marT="45720" marB="45720" anchor="ctr">
                    <a:lnL w="6350">
                      <a:solidFill>
                        <a:srgbClr val="D9B8B8"/>
                      </a:solidFill>
                    </a:lnL>
                    <a:lnR w="6350">
                      <a:solidFill>
                        <a:srgbClr val="D9B8B8"/>
                      </a:solidFill>
                    </a:lnR>
                    <a:lnT w="6350">
                      <a:solidFill>
                        <a:srgbClr val="D9B8B8"/>
                      </a:solidFill>
                    </a:lnT>
                    <a:lnB w="6350">
                      <a:solidFill>
                        <a:srgbClr val="D9B8B8"/>
                      </a:solidFill>
                    </a:lnB>
                    <a:solidFill>
                      <a:srgbClr val="FFFFFF"/>
                    </a:solidFill>
                  </a:tcPr>
                </a:tc>
                <a:tc>
                  <a:txBody>
                    <a:bodyPr/>
                    <a:lstStyle/>
                    <a:p>
                      <a:pPr algn="l"/>
                      <a:r>
                        <a:rPr lang="en-US" sz="1200" b="0" i="0" dirty="0">
                          <a:solidFill>
                            <a:srgbClr val="000000"/>
                          </a:solidFill>
                          <a:latin typeface="Calibri"/>
                          <a:cs typeface="Nirmala UI"/>
                        </a:rPr>
                        <a:t>O(1)</a:t>
                      </a:r>
                    </a:p>
                  </a:txBody>
                  <a:tcPr marL="91440" marR="91440" marT="45720" marB="45720" anchor="ctr">
                    <a:lnL w="6350">
                      <a:solidFill>
                        <a:srgbClr val="D9B8B8"/>
                      </a:solidFill>
                    </a:lnL>
                    <a:lnR w="6350">
                      <a:solidFill>
                        <a:srgbClr val="D9B8B8"/>
                      </a:solidFill>
                    </a:lnR>
                    <a:lnT w="6350">
                      <a:solidFill>
                        <a:srgbClr val="D9B8B8"/>
                      </a:solidFill>
                    </a:lnT>
                    <a:lnB w="6350">
                      <a:solidFill>
                        <a:srgbClr val="D9B8B8"/>
                      </a:solidFill>
                    </a:lnB>
                    <a:solidFill>
                      <a:srgbClr val="FFFFFF"/>
                    </a:solidFill>
                  </a:tcPr>
                </a:tc>
                <a:tc>
                  <a:txBody>
                    <a:bodyPr/>
                    <a:lstStyle/>
                    <a:p>
                      <a:pPr algn="l"/>
                      <a:r>
                        <a:rPr lang="en-US" sz="1200" b="0" i="0" dirty="0">
                          <a:solidFill>
                            <a:srgbClr val="000000"/>
                          </a:solidFill>
                          <a:latin typeface="Calibri"/>
                          <a:cs typeface="Nirmala UI"/>
                        </a:rPr>
                        <a:t>O(terms + postings)</a:t>
                      </a:r>
                    </a:p>
                  </a:txBody>
                  <a:tcPr marL="91440" marR="91440" marT="45720" marB="45720" anchor="ctr">
                    <a:lnL w="6350">
                      <a:solidFill>
                        <a:srgbClr val="D9B8B8"/>
                      </a:solidFill>
                    </a:lnL>
                    <a:lnR w="6350">
                      <a:solidFill>
                        <a:srgbClr val="D9B8B8"/>
                      </a:solidFill>
                    </a:lnR>
                    <a:lnT w="6350">
                      <a:solidFill>
                        <a:srgbClr val="D9B8B8"/>
                      </a:solidFill>
                    </a:lnT>
                    <a:lnB w="6350">
                      <a:solidFill>
                        <a:srgbClr val="D9B8B8"/>
                      </a:solidFill>
                    </a:lnB>
                    <a:solidFill>
                      <a:srgbClr val="FFFFFF"/>
                    </a:solidFill>
                  </a:tcPr>
                </a:tc>
              </a:tr>
            </a:tbl>
          </a:graphicData>
        </a:graphic>
      </p:graphicFrame>
      <p:sp>
        <p:nvSpPr>
          <p:cNvPr id="251" name="Takeaway 251"/>
          <p:cNvSpPr/>
          <p:nvPr/>
        </p:nvSpPr>
        <p:spPr>
          <a:xfrm>
            <a:off x="6300000" y="4250000"/>
            <a:ext cx="5292000" cy="1800000"/>
          </a:xfrm>
          <a:prstGeom prst="roundRect">
            <a:avLst/>
          </a:prstGeom>
          <a:solidFill>
            <a:srgbClr val="FBEAEA"/>
          </a:solidFill>
          <a:ln>
            <a:noFill/>
          </a:ln>
        </p:spPr>
        <p:txBody>
          <a:bodyPr wrap="square" lIns="146304" rIns="146304" tIns="91440" bIns="91440" rtlCol="0" anchor="t">
            <a:noAutofit/>
          </a:bodyPr>
          <a:lstStyle/>
          <a:p>
            <a:pPr algn="l">
              <a:spcAft>
                <a:spcPts val="200"/>
              </a:spcAft>
              <a:buNone/>
            </a:pPr>
            <a:r>
              <a:rPr lang="en-US" sz="1300" b="1" i="0" dirty="0">
                <a:solidFill>
                  <a:srgbClr val="C00000"/>
                </a:solidFill>
                <a:latin typeface="Calibri"/>
                <a:cs typeface="Nirmala UI"/>
              </a:rPr>
              <a:t>Why it matters</a:t>
            </a:r>
          </a:p>
          <a:p>
            <a:pPr algn="l">
              <a:spcAft>
                <a:spcPts val="0"/>
              </a:spcAft>
              <a:buNone/>
            </a:pPr>
            <a:r>
              <a:rPr lang="en-US" sz="1200" b="0" i="0" dirty="0">
                <a:solidFill>
                  <a:srgbClr val="000000"/>
                </a:solidFill>
                <a:latin typeface="Calibri"/>
                <a:cs typeface="Nirmala UI"/>
              </a:rPr>
              <a:t>The index costs a one-time build and extra memory. After that, a query reads only the postings of its keywords, so its cost depends on how many documents match, not on the size of the whole corpus.</a:t>
            </a:r>
          </a:p>
        </p:txBody>
      </p:sp>
      <p:sp>
        <p:nvSpPr>
          <p:cNvPr id="252" name="Text 252"/>
          <p:cNvSpPr txBox="1"/>
          <p:nvPr/>
        </p:nvSpPr>
        <p:spPr>
          <a:xfrm>
            <a:off x="6300000" y="6150000"/>
            <a:ext cx="5292000" cy="240000"/>
          </a:xfrm>
          <a:prstGeom prst="rect">
            <a:avLst/>
          </a:prstGeom>
          <a:noFill/>
        </p:spPr>
        <p:txBody>
          <a:bodyPr wrap="square" lIns="0" rIns="0" tIns="0" bIns="0" rtlCol="0" anchor="t">
            <a:noAutofit/>
          </a:bodyPr>
          <a:lstStyle/>
          <a:p>
            <a:pPr algn="l">
              <a:spcAft>
                <a:spcPts val="0"/>
              </a:spcAft>
              <a:buNone/>
            </a:pPr>
            <a:r>
              <a:rPr lang="en-US" sz="1050" b="0" i="1" dirty="0">
                <a:solidFill>
                  <a:srgbClr val="404040"/>
                </a:solidFill>
                <a:latin typeface="Calibri"/>
                <a:cs typeface="Nirmala UI"/>
              </a:rPr>
              <a:t>N = total tokens, k = keywords in the query, m = matching documents</a:t>
            </a:r>
          </a:p>
        </p:txBody>
      </p:sp>
    </p:spTree>
    <p:extLst>
      <p:ext uri="{BB962C8B-B14F-4D97-AF65-F5344CB8AC3E}">
        <p14:creationId xmlns:p14="http://schemas.microsoft.com/office/powerpoint/2010/main" val="1060922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51</TotalTime>
  <Words>59</Words>
  <Application>Microsoft Office PowerPoint</Application>
  <PresentationFormat>Widescreen</PresentationFormat>
  <Paragraphs>25</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Calibri Light</vt:lpstr>
      <vt:lpstr>Gautami</vt:lpstr>
      <vt:lpstr>Times New Roman</vt:lpstr>
      <vt:lpstr>Office Theme</vt:lpstr>
      <vt:lpstr>       Data Structures and Algorithms -3 (25CS2103E)  Title of the project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Sirisha Devi</dc:creator>
  <cp:lastModifiedBy>ANITHA CHEKURI</cp:lastModifiedBy>
  <cp:revision>19</cp:revision>
  <dcterms:created xsi:type="dcterms:W3CDTF">2024-08-29T05:25:00Z</dcterms:created>
  <dcterms:modified xsi:type="dcterms:W3CDTF">2026-08-20T05:50:30Z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FB2A1F042FC047C6B4D7E0BF0C20B2E9_13</vt:lpwstr>
  </property>
  <property fmtid="{D5CDD505-2E9C-101B-9397-08002B2CF9AE}" pid="3" name="KSOProductBuildVer">
    <vt:lpwstr>1033-12.2.0.23131</vt:lpwstr>
  </property>
</Properties>
</file>